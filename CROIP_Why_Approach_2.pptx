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701cd0b9-658b-3c0e-8e8b-46d4a9b660b3}">
          <p14:sldIdLst>
            <p14:sldId id="256"/>
            <p14:sldId id="257"/>
            <p14:sldId id="258"/>
          </p14:sldIdLst>
        </p14:section>
        <p14:section name="The case" id="{9e321d59-72e0-ae5f-07f0-955d564c05c7}">
          <p14:sldIdLst>
            <p14:sldId id="259"/>
            <p14:sldId id="260"/>
            <p14:sldId id="261"/>
            <p14:sldId id="262"/>
            <p14:sldId id="263"/>
            <p14:sldId id="264"/>
            <p14:sldId id="265"/>
            <p14:sldId id="266"/>
          </p14:sldIdLst>
        </p14:section>
        <p14:section name="Delivery" id="{61a7e781-89eb-a2cc-141b-96b3b642d11d}">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decision: we have two ways to structure CROIP. This deck argues for Approach 2, where ratepayers deal directly with CROIP through one universal app, and concessionaires focus on verifying properties and issuing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1 keeps ratepayers inside each concessionaire's own system, with CROIP watching from above. Approach 2 puts CROIP in front of the ratepayer and keeps concessionaires on the work that is genuinely local: verifying properties and issuing bills.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weakness is that the ratepayer's front door is split across every concessionaire. A property owner with land in two municipalities needs two logins and two payment experiences, and CROIP only learns about payments after the fact, when it tries to match them across separately run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systems. The ratepayer uses one universal app. CROIP holds the property registry, rate cards and bill calculator, payment APIs routed to a partner bank platform, and support ticketing, and exchanges valuation data with LVD. Concessionaires are the companies municipalities engage; they build their own office and agent apps on CROIP's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Ratepayers are global in this model. One login works across every municipality, and every property they own shows up in one list with its own verification and billing status. A ratepayer can also add a property that is not yet in the system; it stays unverified, and unbillable, until an agent inspects it and office staff approve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operational win. The bill ID is registered with CROIP before the ratepayer can pay, so every payment is born attached to a bill. CROIP orchestrates payments into the bank's accounts and keeps the log, but does not hold balances. Settlement is kept separate per municipality.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Concessionaires do not type amounts. They ask CROIP to bill a property for a year, and CROIP computes it. For an assessed property the bill is the rateable value from LVD times the assembly's rate, subject to its minimum. For an unassessed property it is the flat provisional rate for its class and use. Each bill records the rate-card version, and any adjustment needs a reason code and approval. This follows the published fee-fixing resolutions; confirm reconciliation rules with LVD and the assemblies.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ratepayer can add a property in the app, or the concessionaire can register one. An office staffer assigns it to one agent, who captures a boundary polygon of at least four points, photos, ownership evidence, and the inputs that select the rate: class or zone, usage, development status and storeys. Nothing is auto-verified: the staffer who assigned it reviews and approves before it goes live in CROIP. Agents capture inputs only; the rateable value comes from LVD.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concessionaire is the company a municipality hires to build and run its system, and it builds on our APIs. It does not need its own payment channels or ratepayer-facing app. It contracts only with CROIP, may serve one or more municipalities, and each municipality has exactly one concessionaire. It is accountable for data accuracy, bill requests, agent and staff conduct, app quality and first-line resolution within agreed service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Onboarding has two layers. Once per concessionaire: the contract with CROIP, acceptance of API terms, portal access and the conformance suite as the go-live gate. Then for each municipality added: the municipality's approved person confirms the appointment, the rate card is verified against the published fee-fixing resolution and entered by two CROIP people, and a configuration test runs. CROIP removes a municipality from a concessionaire's scope on written notice from that approved person. Property and ratepayer data belongs to CROIP and the municipality, so a handover is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customer service sits with the concessionaire, a universal app could mean many support numbers. The fix is a single front door: every request becomes a CROIP ticket that already knows the property, bill and municipality, so it routes automatically. General how-it-works questions, including from people with no property yet, stay with CROIP. Anything tied to a property or municipality goes to the concessionaire. Valuation disputes route to LVD's process. Open question: who staffs first-line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Approach 2 concentrates responsibility in CROIP. For money, the design principle is that CROIP orchestrates payments into the bank's accounts and keeps the payment log but holds no balances; confirm the licensing position with counsel and the partner bank. Quality varies across concessionaire systems, so the conformance suite is the go-live gate and the ratepayer app gives one consistent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items we are listing for internal discussion. Identity design and settlement split shape the data model and reporting, so they should be settled early. LVD data exchange covers whether the link is digital or manual and whether provisional payments are credited against the final assessment. API pricing options are an onboarding fee, a per-municipality fee, or a per-transaction fee, and a per-transaction fee needs a licensing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recommendation and three concrete next steps. The data model and event contract come first because every other part of the platform depends on them, and LVD and the municipalities are stakeholders to engage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1143000"/>
            <a:ext cx="51206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063240"/>
            <a:ext cx="4846320" cy="100584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CROIP  |  Approach 2: Three-System Model</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548640" y="548640"/>
            <a:ext cx="804672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548640" y="777240"/>
            <a:ext cx="51206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CROIP ARCHITECTURE DECISION</a:t>
            </a:r>
            <a:endParaRPr lang="en-US" sz="1200" dirty="0"/>
          </a:p>
        </p:txBody>
      </p:sp>
      <p:sp>
        <p:nvSpPr>
          <p:cNvPr id="3" name="Text 1"/>
          <p:cNvSpPr/>
          <p:nvPr>
            <p:ph idx="101" type="title" hasCustomPrompt="1"/>
          </p:nvPr>
        </p:nvSpPr>
        <p:spPr>
          <a:xfrm>
            <a:off x="548640" y="1143000"/>
            <a:ext cx="5120640" cy="1737360"/>
          </a:xfrm>
          <a:prstGeom prst="rect">
            <a:avLst/>
          </a:prstGeom>
          <a:noFill/>
          <a:ln/>
        </p:spPr>
        <p:txBody>
          <a:bodyPr wrap="square" lIns="0" tIns="0" rIns="0" bIns="0" rtlCol="0" anchor="b"/>
          <a:lstStyle/>
          <a:p>
            <a:pPr algn="l" indent="0" marL="0">
              <a:buNone/>
            </a:pPr>
            <a:r>
              <a:rPr lang="en-US" sz="4000" b="1" dirty="0">
                <a:solidFill>
                  <a:schemeClr val="bg1"/>
                </a:solidFill>
              </a:rPr>
              <a:t>Why we should build the three-system model</a:t>
            </a:r>
            <a:endParaRPr lang="en-US" sz="4000" dirty="0"/>
          </a:p>
        </p:txBody>
      </p:sp>
      <p:sp>
        <p:nvSpPr>
          <p:cNvPr id="4" name="Text 1"/>
          <p:cNvSpPr/>
          <p:nvPr>
            <p:ph idx="102" type="body" hasCustomPrompt="1"/>
          </p:nvPr>
        </p:nvSpPr>
        <p:spPr>
          <a:xfrm>
            <a:off x="548640" y="3063240"/>
            <a:ext cx="4846320" cy="1005840"/>
          </a:xfrm>
          <a:prstGeom prst="rect">
            <a:avLst/>
          </a:prstGeom>
          <a:noFill/>
          <a:ln/>
        </p:spPr>
        <p:txBody>
          <a:bodyPr wrap="square" lIns="0" tIns="0" rIns="0" bIns="0" rtlCol="0" anchor="t"/>
          <a:lstStyle/>
          <a:p>
            <a:pPr algn="l" indent="0" marL="0">
              <a:buNone/>
            </a:pPr>
            <a:r>
              <a:rPr lang="en-US" sz="1600" dirty="0">
                <a:solidFill>
                  <a:schemeClr val="accent4"/>
                </a:solidFill>
              </a:rPr>
              <a:t>Approach 2: one app for ratepayers, one platform for payments, and concessionaires focused on verification and billing.</a:t>
            </a:r>
            <a:endParaRPr lang="en-US" sz="1600" dirty="0"/>
          </a:p>
        </p:txBody>
      </p:sp>
      <p:sp>
        <p:nvSpPr>
          <p:cNvPr id="5" name="Connector 2"/>
          <p:cNvSpPr/>
          <p:nvPr/>
        </p:nvSpPr>
        <p:spPr>
          <a:xfrm>
            <a:off x="7269480" y="1645920"/>
            <a:ext cx="0" cy="365760"/>
          </a:xfrm>
          <a:prstGeom prst="line">
            <a:avLst/>
          </a:prstGeom>
          <a:noFill/>
          <a:ln w="19050">
            <a:solidFill>
              <a:schemeClr val="accent4"/>
            </a:solidFill>
            <a:prstDash val="solid"/>
            <a:headEnd type="triangle"/>
            <a:tailEnd type="triangle"/>
          </a:ln>
        </p:spPr>
      </p:sp>
      <p:sp>
        <p:nvSpPr>
          <p:cNvPr id="6" name="Connector 3"/>
          <p:cNvSpPr/>
          <p:nvPr/>
        </p:nvSpPr>
        <p:spPr>
          <a:xfrm>
            <a:off x="7269480" y="3383280"/>
            <a:ext cx="0" cy="365760"/>
          </a:xfrm>
          <a:prstGeom prst="line">
            <a:avLst/>
          </a:prstGeom>
          <a:noFill/>
          <a:ln w="19050">
            <a:solidFill>
              <a:schemeClr val="accent4"/>
            </a:solidFill>
            <a:prstDash val="solid"/>
            <a:headEnd type="triangle"/>
            <a:tailEnd type="triangle"/>
          </a:ln>
        </p:spPr>
      </p:sp>
      <p:sp>
        <p:nvSpPr>
          <p:cNvPr id="7" name="Icon circle 4"/>
          <p:cNvSpPr/>
          <p:nvPr/>
        </p:nvSpPr>
        <p:spPr>
          <a:xfrm>
            <a:off x="6812280" y="731520"/>
            <a:ext cx="914400" cy="914400"/>
          </a:xfrm>
          <a:prstGeom prst="ellipse">
            <a:avLst/>
          </a:prstGeom>
          <a:solidFill>
            <a:schemeClr val="accent1"/>
          </a:solidFill>
          <a:ln/>
        </p:spPr>
      </p:sp>
      <p:pic>
        <p:nvPicPr>
          <p:cNvPr id="8" name="Icon 5" descr="FaUser">    </p:cNvPr>
          <p:cNvPicPr>
            <a:picLocks noChangeAspect="1"/>
          </p:cNvPicPr>
          <p:nvPr/>
        </p:nvPicPr>
        <p:blipFill>
          <a:blip r:embed="rId1"/>
          <a:stretch>
            <a:fillRect/>
          </a:stretch>
        </p:blipFill>
        <p:spPr>
          <a:xfrm>
            <a:off x="7040880" y="960120"/>
            <a:ext cx="457200" cy="457200"/>
          </a:xfrm>
          <a:prstGeom prst="rect">
            <a:avLst/>
          </a:prstGeom>
        </p:spPr>
      </p:pic>
      <p:sp>
        <p:nvSpPr>
          <p:cNvPr id="9" name="Icon circle 6"/>
          <p:cNvSpPr/>
          <p:nvPr/>
        </p:nvSpPr>
        <p:spPr>
          <a:xfrm>
            <a:off x="6583680" y="2011680"/>
            <a:ext cx="1371600" cy="1371600"/>
          </a:xfrm>
          <a:prstGeom prst="ellipse">
            <a:avLst/>
          </a:prstGeom>
          <a:solidFill>
            <a:schemeClr val="accent2"/>
          </a:solidFill>
          <a:ln/>
        </p:spPr>
      </p:sp>
      <p:pic>
        <p:nvPicPr>
          <p:cNvPr id="10" name="Icon 7" descr="FaLayerGroup">    </p:cNvPr>
          <p:cNvPicPr>
            <a:picLocks noChangeAspect="1"/>
          </p:cNvPicPr>
          <p:nvPr/>
        </p:nvPicPr>
        <p:blipFill>
          <a:blip r:embed="rId2"/>
          <a:stretch>
            <a:fillRect/>
          </a:stretch>
        </p:blipFill>
        <p:spPr>
          <a:xfrm>
            <a:off x="6926580" y="2354580"/>
            <a:ext cx="685800" cy="685800"/>
          </a:xfrm>
          <a:prstGeom prst="rect">
            <a:avLst/>
          </a:prstGeom>
        </p:spPr>
      </p:pic>
      <p:sp>
        <p:nvSpPr>
          <p:cNvPr id="11" name="Icon circle 8"/>
          <p:cNvSpPr/>
          <p:nvPr/>
        </p:nvSpPr>
        <p:spPr>
          <a:xfrm>
            <a:off x="6812280" y="3749040"/>
            <a:ext cx="914400" cy="914400"/>
          </a:xfrm>
          <a:prstGeom prst="ellipse">
            <a:avLst/>
          </a:prstGeom>
          <a:solidFill>
            <a:schemeClr val="accent1"/>
          </a:solidFill>
          <a:ln/>
        </p:spPr>
      </p:sp>
      <p:pic>
        <p:nvPicPr>
          <p:cNvPr id="12" name="Icon 9" descr="FaBuilding">    </p:cNvPr>
          <p:cNvPicPr>
            <a:picLocks noChangeAspect="1"/>
          </p:cNvPicPr>
          <p:nvPr/>
        </p:nvPicPr>
        <p:blipFill>
          <a:blip r:embed="rId3"/>
          <a:stretch>
            <a:fillRect/>
          </a:stretch>
        </p:blipFill>
        <p:spPr>
          <a:xfrm>
            <a:off x="7040880" y="3977640"/>
            <a:ext cx="457200" cy="457200"/>
          </a:xfrm>
          <a:prstGeom prst="rect">
            <a:avLst/>
          </a:prstGeom>
        </p:spPr>
      </p:pic>
      <p:sp>
        <p:nvSpPr>
          <p:cNvPr id="13" name="Text 10"/>
          <p:cNvSpPr txBox="1"/>
          <p:nvPr/>
        </p:nvSpPr>
        <p:spPr>
          <a:xfrm>
            <a:off x="5486400" y="1051560"/>
            <a:ext cx="1188720" cy="274320"/>
          </a:xfrm>
          <a:prstGeom prst="rect">
            <a:avLst/>
          </a:prstGeom>
          <a:noFill/>
          <a:ln/>
        </p:spPr>
        <p:txBody>
          <a:bodyPr wrap="square" lIns="0" tIns="0" rIns="0" bIns="0" rtlCol="0" anchor="t"/>
          <a:lstStyle/>
          <a:p>
            <a:pPr algn="r" indent="0" marL="0">
              <a:buNone/>
            </a:pPr>
            <a:r>
              <a:rPr lang="en-US" sz="1200" b="1" dirty="0">
                <a:solidFill>
                  <a:schemeClr val="bg1"/>
                </a:solidFill>
              </a:rPr>
              <a:t>Ratepayer</a:t>
            </a:r>
            <a:endParaRPr lang="en-US" sz="1200" dirty="0"/>
          </a:p>
        </p:txBody>
      </p:sp>
      <p:sp>
        <p:nvSpPr>
          <p:cNvPr id="14" name="Text 11"/>
          <p:cNvSpPr txBox="1"/>
          <p:nvPr/>
        </p:nvSpPr>
        <p:spPr>
          <a:xfrm>
            <a:off x="5486400" y="2560320"/>
            <a:ext cx="1005840" cy="274320"/>
          </a:xfrm>
          <a:prstGeom prst="rect">
            <a:avLst/>
          </a:prstGeom>
          <a:noFill/>
          <a:ln/>
        </p:spPr>
        <p:txBody>
          <a:bodyPr wrap="square" lIns="0" tIns="0" rIns="0" bIns="0" rtlCol="0" anchor="t"/>
          <a:lstStyle/>
          <a:p>
            <a:pPr algn="r" indent="0" marL="0">
              <a:buNone/>
            </a:pPr>
            <a:r>
              <a:rPr lang="en-US" sz="1400" b="1" dirty="0">
                <a:solidFill>
                  <a:schemeClr val="accent2"/>
                </a:solidFill>
              </a:rPr>
              <a:t>CROIP</a:t>
            </a:r>
            <a:endParaRPr lang="en-US" sz="1400" dirty="0"/>
          </a:p>
        </p:txBody>
      </p:sp>
      <p:sp>
        <p:nvSpPr>
          <p:cNvPr id="15" name="Text 12"/>
          <p:cNvSpPr txBox="1"/>
          <p:nvPr/>
        </p:nvSpPr>
        <p:spPr>
          <a:xfrm>
            <a:off x="5394960" y="4069080"/>
            <a:ext cx="1280160" cy="274320"/>
          </a:xfrm>
          <a:prstGeom prst="rect">
            <a:avLst/>
          </a:prstGeom>
          <a:noFill/>
          <a:ln/>
        </p:spPr>
        <p:txBody>
          <a:bodyPr wrap="square" lIns="0" tIns="0" rIns="0" bIns="0" rtlCol="0" anchor="t"/>
          <a:lstStyle/>
          <a:p>
            <a:pPr algn="r" indent="0" marL="0">
              <a:buNone/>
            </a:pPr>
            <a:r>
              <a:rPr lang="en-US" sz="1200" b="1" dirty="0">
                <a:solidFill>
                  <a:schemeClr val="bg1"/>
                </a:solidFill>
              </a:rPr>
              <a:t>Concessionaires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Two ways to build CROIP</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We compared a federated model against a three-system model.</a:t>
            </a:r>
            <a:endParaRPr lang="en-US" sz="1600" dirty="0"/>
          </a:p>
        </p:txBody>
      </p:sp>
      <p:sp>
        <p:nvSpPr>
          <p:cNvPr id="4" name="Card 13"/>
          <p:cNvSpPr/>
          <p:nvPr/>
        </p:nvSpPr>
        <p:spPr>
          <a:xfrm>
            <a:off x="457200" y="1691640"/>
            <a:ext cx="3931920" cy="2926080"/>
          </a:xfrm>
          <a:prstGeom prst="roundRect">
            <a:avLst>
              <a:gd name="adj" fmla="val 3750"/>
            </a:avLst>
          </a:prstGeom>
          <a:solidFill>
            <a:schemeClr val="bg2"/>
          </a:solidFill>
          <a:ln/>
        </p:spPr>
      </p:sp>
      <p:sp>
        <p:nvSpPr>
          <p:cNvPr id="5" name="Text 14"/>
          <p:cNvSpPr txBox="1"/>
          <p:nvPr/>
        </p:nvSpPr>
        <p:spPr>
          <a:xfrm>
            <a:off x="685800" y="1847088"/>
            <a:ext cx="3474720" cy="228600"/>
          </a:xfrm>
          <a:prstGeom prst="rect">
            <a:avLst/>
          </a:prstGeom>
          <a:noFill/>
          <a:ln/>
        </p:spPr>
        <p:txBody>
          <a:bodyPr wrap="square" lIns="0" tIns="0" rIns="0" bIns="0" rtlCol="0" anchor="t"/>
          <a:lstStyle/>
          <a:p>
            <a:pPr indent="0" marL="0">
              <a:buNone/>
            </a:pPr>
            <a:r>
              <a:rPr lang="en-US" sz="1200" b="1" dirty="0">
                <a:solidFill>
                  <a:schemeClr val="accent1"/>
                </a:solidFill>
              </a:rPr>
              <a:t>APPROACH 1</a:t>
            </a:r>
            <a:endParaRPr lang="en-US" sz="1200" dirty="0"/>
          </a:p>
        </p:txBody>
      </p:sp>
      <p:sp>
        <p:nvSpPr>
          <p:cNvPr id="6" name="Text 15"/>
          <p:cNvSpPr txBox="1"/>
          <p:nvPr/>
        </p:nvSpPr>
        <p:spPr>
          <a:xfrm>
            <a:off x="685800" y="2121408"/>
            <a:ext cx="3474720" cy="365760"/>
          </a:xfrm>
          <a:prstGeom prst="rect">
            <a:avLst/>
          </a:prstGeom>
          <a:noFill/>
          <a:ln/>
        </p:spPr>
        <p:txBody>
          <a:bodyPr wrap="square" lIns="0" tIns="0" rIns="0" bIns="0" rtlCol="0" anchor="t"/>
          <a:lstStyle/>
          <a:p>
            <a:pPr indent="0" marL="0">
              <a:buNone/>
            </a:pPr>
            <a:r>
              <a:rPr lang="en-US" sz="2200" b="1" dirty="0">
                <a:solidFill>
                  <a:schemeClr val="tx2"/>
                </a:solidFill>
              </a:rPr>
              <a:t>Federated</a:t>
            </a:r>
            <a:endParaRPr lang="en-US" sz="2200" dirty="0"/>
          </a:p>
        </p:txBody>
      </p:sp>
      <p:sp>
        <p:nvSpPr>
          <p:cNvPr id="7" name="Text 16"/>
          <p:cNvSpPr txBox="1"/>
          <p:nvPr/>
        </p:nvSpPr>
        <p:spPr>
          <a:xfrm>
            <a:off x="685800" y="2560320"/>
            <a:ext cx="3474720" cy="548640"/>
          </a:xfrm>
          <a:prstGeom prst="rect">
            <a:avLst/>
          </a:prstGeom>
          <a:noFill/>
          <a:ln/>
        </p:spPr>
        <p:txBody>
          <a:bodyPr wrap="square" lIns="0" tIns="0" rIns="0" bIns="0" rtlCol="0" anchor="t"/>
          <a:lstStyle/>
          <a:p>
            <a:pPr indent="0" marL="0">
              <a:buNone/>
            </a:pPr>
            <a:r>
              <a:rPr lang="en-US" sz="1400" dirty="0">
                <a:solidFill>
                  <a:schemeClr val="accent6"/>
                </a:solidFill>
              </a:rPr>
              <a:t>Ratepayers deal with their own concessionaire. CROIP oversees.</a:t>
            </a:r>
            <a:endParaRPr lang="en-US" sz="1400" dirty="0"/>
          </a:p>
        </p:txBody>
      </p:sp>
      <p:sp>
        <p:nvSpPr>
          <p:cNvPr id="8" name="Text 17"/>
          <p:cNvSpPr txBox="1"/>
          <p:nvPr/>
        </p:nvSpPr>
        <p:spPr>
          <a:xfrm>
            <a:off x="685800" y="3200400"/>
            <a:ext cx="34747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Each concessionaire runs its own collections</a:t>
            </a:r>
            <a:endParaRPr lang="en-US" sz="1400" dirty="0"/>
          </a:p>
          <a:p>
            <a:pPr marL="342900" indent="-342900">
              <a:spcAft>
                <a:spcPts val="400"/>
              </a:spcAft>
              <a:buSzPct val="100000"/>
              <a:buChar char="•"/>
            </a:pPr>
            <a:r>
              <a:rPr lang="en-US" sz="1400" dirty="0">
                <a:solidFill>
                  <a:schemeClr val="tx1"/>
                </a:solidFill>
              </a:rPr>
              <a:t>CROIP reconciles after the fact</a:t>
            </a:r>
            <a:endParaRPr lang="en-US" sz="1400" dirty="0"/>
          </a:p>
          <a:p>
            <a:pPr marL="342900" indent="-342900">
              <a:spcAft>
                <a:spcPts val="400"/>
              </a:spcAft>
              <a:buSzPct val="100000"/>
              <a:buChar char="•"/>
            </a:pPr>
            <a:r>
              <a:rPr lang="en-US" sz="1400" dirty="0">
                <a:solidFill>
                  <a:schemeClr val="tx1"/>
                </a:solidFill>
              </a:rPr>
              <a:t>One login per concessionaire</a:t>
            </a:r>
            <a:endParaRPr lang="en-US" sz="1400" dirty="0"/>
          </a:p>
        </p:txBody>
      </p:sp>
      <p:sp>
        <p:nvSpPr>
          <p:cNvPr id="9" name="Card 18"/>
          <p:cNvSpPr/>
          <p:nvPr/>
        </p:nvSpPr>
        <p:spPr>
          <a:xfrm>
            <a:off x="4754880" y="1691640"/>
            <a:ext cx="3931920" cy="2926080"/>
          </a:xfrm>
          <a:prstGeom prst="roundRect">
            <a:avLst>
              <a:gd name="adj" fmla="val 3750"/>
            </a:avLst>
          </a:prstGeom>
          <a:solidFill>
            <a:schemeClr val="tx2"/>
          </a:solidFill>
          <a:ln/>
        </p:spPr>
      </p:sp>
      <p:sp>
        <p:nvSpPr>
          <p:cNvPr id="10" name="Text 19"/>
          <p:cNvSpPr txBox="1"/>
          <p:nvPr/>
        </p:nvSpPr>
        <p:spPr>
          <a:xfrm>
            <a:off x="4983480" y="1847088"/>
            <a:ext cx="3474720" cy="228600"/>
          </a:xfrm>
          <a:prstGeom prst="rect">
            <a:avLst/>
          </a:prstGeom>
          <a:noFill/>
          <a:ln/>
        </p:spPr>
        <p:txBody>
          <a:bodyPr wrap="square" lIns="0" tIns="0" rIns="0" bIns="0" rtlCol="0" anchor="t"/>
          <a:lstStyle/>
          <a:p>
            <a:pPr indent="0" marL="0">
              <a:buNone/>
            </a:pPr>
            <a:r>
              <a:rPr lang="en-US" sz="1200" b="1" dirty="0">
                <a:solidFill>
                  <a:schemeClr val="accent2"/>
                </a:solidFill>
              </a:rPr>
              <a:t>APPROACH 2  |  RECOMMENDED</a:t>
            </a:r>
            <a:endParaRPr lang="en-US" sz="1200" dirty="0"/>
          </a:p>
        </p:txBody>
      </p:sp>
      <p:sp>
        <p:nvSpPr>
          <p:cNvPr id="11" name="Text 20"/>
          <p:cNvSpPr txBox="1"/>
          <p:nvPr/>
        </p:nvSpPr>
        <p:spPr>
          <a:xfrm>
            <a:off x="4983480" y="2121408"/>
            <a:ext cx="3474720" cy="365760"/>
          </a:xfrm>
          <a:prstGeom prst="rect">
            <a:avLst/>
          </a:prstGeom>
          <a:noFill/>
          <a:ln/>
        </p:spPr>
        <p:txBody>
          <a:bodyPr wrap="square" lIns="0" tIns="0" rIns="0" bIns="0" rtlCol="0" anchor="t"/>
          <a:lstStyle/>
          <a:p>
            <a:pPr indent="0" marL="0">
              <a:buNone/>
            </a:pPr>
            <a:r>
              <a:rPr lang="en-US" sz="2200" b="1" dirty="0">
                <a:solidFill>
                  <a:schemeClr val="bg1"/>
                </a:solidFill>
              </a:rPr>
              <a:t>Three-system</a:t>
            </a:r>
            <a:endParaRPr lang="en-US" sz="2200" dirty="0"/>
          </a:p>
        </p:txBody>
      </p:sp>
      <p:sp>
        <p:nvSpPr>
          <p:cNvPr id="12" name="Text 21"/>
          <p:cNvSpPr txBox="1"/>
          <p:nvPr/>
        </p:nvSpPr>
        <p:spPr>
          <a:xfrm>
            <a:off x="4983480" y="2560320"/>
            <a:ext cx="3474720" cy="548640"/>
          </a:xfrm>
          <a:prstGeom prst="rect">
            <a:avLst/>
          </a:prstGeom>
          <a:noFill/>
          <a:ln/>
        </p:spPr>
        <p:txBody>
          <a:bodyPr wrap="square" lIns="0" tIns="0" rIns="0" bIns="0" rtlCol="0" anchor="t"/>
          <a:lstStyle/>
          <a:p>
            <a:pPr indent="0" marL="0">
              <a:buNone/>
            </a:pPr>
            <a:r>
              <a:rPr lang="en-US" sz="1400" dirty="0">
                <a:solidFill>
                  <a:schemeClr val="accent4"/>
                </a:solidFill>
              </a:rPr>
              <a:t>Ratepayers deal with CROIP. Concessionaires verify and bill.</a:t>
            </a:r>
            <a:endParaRPr lang="en-US" sz="1400" dirty="0"/>
          </a:p>
        </p:txBody>
      </p:sp>
      <p:sp>
        <p:nvSpPr>
          <p:cNvPr id="13" name="Text 22"/>
          <p:cNvSpPr txBox="1"/>
          <p:nvPr/>
        </p:nvSpPr>
        <p:spPr>
          <a:xfrm>
            <a:off x="4983480" y="3200400"/>
            <a:ext cx="347472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CROIP runs the app and all payments</a:t>
            </a:r>
            <a:endParaRPr lang="en-US" sz="1400" dirty="0"/>
          </a:p>
          <a:p>
            <a:pPr marL="342900" indent="-342900">
              <a:spcAft>
                <a:spcPts val="400"/>
              </a:spcAft>
              <a:buSzPct val="100000"/>
              <a:buChar char="•"/>
            </a:pPr>
            <a:r>
              <a:rPr lang="en-US" sz="1400" dirty="0">
                <a:solidFill>
                  <a:schemeClr val="bg1"/>
                </a:solidFill>
              </a:rPr>
              <a:t>Every payment ties to a bill ID</a:t>
            </a:r>
            <a:endParaRPr lang="en-US" sz="1400" dirty="0"/>
          </a:p>
          <a:p>
            <a:pPr marL="342900" indent="-342900">
              <a:spcAft>
                <a:spcPts val="400"/>
              </a:spcAft>
              <a:buSzPct val="100000"/>
              <a:buChar char="•"/>
            </a:pPr>
            <a:r>
              <a:rPr lang="en-US" sz="1400" dirty="0">
                <a:solidFill>
                  <a:schemeClr val="bg1"/>
                </a:solidFill>
              </a:rPr>
              <a:t>One login across all municipalities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Where Approach 1 struggles</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Splitting the front door makes life harder for ratepayers and for CROIP.</a:t>
            </a:r>
            <a:endParaRPr lang="en-US" sz="1600" dirty="0"/>
          </a:p>
        </p:txBody>
      </p:sp>
      <p:sp>
        <p:nvSpPr>
          <p:cNvPr id="4" name="Icon circle 23"/>
          <p:cNvSpPr/>
          <p:nvPr/>
        </p:nvSpPr>
        <p:spPr>
          <a:xfrm>
            <a:off x="457200" y="2651760"/>
            <a:ext cx="822960" cy="822960"/>
          </a:xfrm>
          <a:prstGeom prst="ellipse">
            <a:avLst/>
          </a:prstGeom>
          <a:solidFill>
            <a:schemeClr val="accent1"/>
          </a:solidFill>
          <a:ln/>
        </p:spPr>
      </p:sp>
      <p:pic>
        <p:nvPicPr>
          <p:cNvPr id="5" name="Icon 24" descr="FaUser">    </p:cNvPr>
          <p:cNvPicPr>
            <a:picLocks noChangeAspect="1"/>
          </p:cNvPicPr>
          <p:nvPr/>
        </p:nvPicPr>
        <p:blipFill>
          <a:blip r:embed="rId1"/>
          <a:stretch>
            <a:fillRect/>
          </a:stretch>
        </p:blipFill>
        <p:spPr>
          <a:xfrm>
            <a:off x="662940" y="2857500"/>
            <a:ext cx="411480" cy="411480"/>
          </a:xfrm>
          <a:prstGeom prst="rect">
            <a:avLst/>
          </a:prstGeom>
        </p:spPr>
      </p:pic>
      <p:sp>
        <p:nvSpPr>
          <p:cNvPr id="6" name="Card 25"/>
          <p:cNvSpPr/>
          <p:nvPr/>
        </p:nvSpPr>
        <p:spPr>
          <a:xfrm>
            <a:off x="2286000" y="1783080"/>
            <a:ext cx="2194560" cy="548640"/>
          </a:xfrm>
          <a:prstGeom prst="roundRect">
            <a:avLst>
              <a:gd name="adj" fmla="val 20000"/>
            </a:avLst>
          </a:prstGeom>
          <a:solidFill>
            <a:schemeClr val="bg2"/>
          </a:solidFill>
          <a:ln/>
        </p:spPr>
      </p:sp>
      <p:sp>
        <p:nvSpPr>
          <p:cNvPr id="7" name="Text 26"/>
          <p:cNvSpPr txBox="1"/>
          <p:nvPr/>
        </p:nvSpPr>
        <p:spPr>
          <a:xfrm>
            <a:off x="2423160" y="1783080"/>
            <a:ext cx="2011680" cy="548640"/>
          </a:xfrm>
          <a:prstGeom prst="rect">
            <a:avLst/>
          </a:prstGeom>
          <a:noFill/>
          <a:ln/>
        </p:spPr>
        <p:txBody>
          <a:bodyPr wrap="square" lIns="0" tIns="0" rIns="0" bIns="0" rtlCol="0" anchor="ctr"/>
          <a:lstStyle/>
          <a:p>
            <a:pPr indent="0" marL="0">
              <a:buNone/>
            </a:pPr>
            <a:r>
              <a:rPr lang="en-US" sz="1200" b="1" dirty="0">
                <a:solidFill>
                  <a:schemeClr val="tx2"/>
                </a:solidFill>
              </a:rPr>
              <a:t>Concessionaire A</a:t>
            </a:r>
            <a:endParaRPr lang="en-US" sz="1200" dirty="0"/>
          </a:p>
          <a:p>
            <a:pPr indent="0" marL="0">
              <a:buNone/>
            </a:pPr>
            <a:r>
              <a:rPr lang="en-US" sz="1000" dirty="0">
                <a:solidFill>
                  <a:schemeClr val="accent6"/>
                </a:solidFill>
              </a:rPr>
              <a:t>own login and payments</a:t>
            </a:r>
            <a:endParaRPr lang="en-US" sz="1200" dirty="0"/>
          </a:p>
        </p:txBody>
      </p:sp>
      <p:sp>
        <p:nvSpPr>
          <p:cNvPr id="8" name="Connector 27"/>
          <p:cNvSpPr/>
          <p:nvPr/>
        </p:nvSpPr>
        <p:spPr>
          <a:xfrm flipV="1">
            <a:off x="1280160" y="2057400"/>
            <a:ext cx="1005840" cy="1005840"/>
          </a:xfrm>
          <a:prstGeom prst="line">
            <a:avLst/>
          </a:prstGeom>
          <a:noFill/>
          <a:ln w="19050">
            <a:solidFill>
              <a:schemeClr val="accent6"/>
            </a:solidFill>
            <a:prstDash val="solid"/>
            <a:tailEnd type="triangle"/>
          </a:ln>
        </p:spPr>
      </p:sp>
      <p:sp>
        <p:nvSpPr>
          <p:cNvPr id="9" name="Card 28"/>
          <p:cNvSpPr/>
          <p:nvPr/>
        </p:nvSpPr>
        <p:spPr>
          <a:xfrm>
            <a:off x="2286000" y="2468880"/>
            <a:ext cx="2194560" cy="548640"/>
          </a:xfrm>
          <a:prstGeom prst="roundRect">
            <a:avLst>
              <a:gd name="adj" fmla="val 20000"/>
            </a:avLst>
          </a:prstGeom>
          <a:solidFill>
            <a:schemeClr val="bg2"/>
          </a:solidFill>
          <a:ln/>
        </p:spPr>
      </p:sp>
      <p:sp>
        <p:nvSpPr>
          <p:cNvPr id="10" name="Text 29"/>
          <p:cNvSpPr txBox="1"/>
          <p:nvPr/>
        </p:nvSpPr>
        <p:spPr>
          <a:xfrm>
            <a:off x="2423160" y="2468880"/>
            <a:ext cx="2011680" cy="548640"/>
          </a:xfrm>
          <a:prstGeom prst="rect">
            <a:avLst/>
          </a:prstGeom>
          <a:noFill/>
          <a:ln/>
        </p:spPr>
        <p:txBody>
          <a:bodyPr wrap="square" lIns="0" tIns="0" rIns="0" bIns="0" rtlCol="0" anchor="ctr"/>
          <a:lstStyle/>
          <a:p>
            <a:pPr indent="0" marL="0">
              <a:buNone/>
            </a:pPr>
            <a:r>
              <a:rPr lang="en-US" sz="1200" b="1" dirty="0">
                <a:solidFill>
                  <a:schemeClr val="tx2"/>
                </a:solidFill>
              </a:rPr>
              <a:t>Concessionaire B</a:t>
            </a:r>
            <a:endParaRPr lang="en-US" sz="1200" dirty="0"/>
          </a:p>
          <a:p>
            <a:pPr indent="0" marL="0">
              <a:buNone/>
            </a:pPr>
            <a:r>
              <a:rPr lang="en-US" sz="1000" dirty="0">
                <a:solidFill>
                  <a:schemeClr val="accent6"/>
                </a:solidFill>
              </a:rPr>
              <a:t>own login and payments</a:t>
            </a:r>
            <a:endParaRPr lang="en-US" sz="1200" dirty="0"/>
          </a:p>
        </p:txBody>
      </p:sp>
      <p:sp>
        <p:nvSpPr>
          <p:cNvPr id="11" name="Connector 30"/>
          <p:cNvSpPr/>
          <p:nvPr/>
        </p:nvSpPr>
        <p:spPr>
          <a:xfrm flipV="1">
            <a:off x="1280160" y="2743200"/>
            <a:ext cx="1005840" cy="320040"/>
          </a:xfrm>
          <a:prstGeom prst="line">
            <a:avLst/>
          </a:prstGeom>
          <a:noFill/>
          <a:ln w="19050">
            <a:solidFill>
              <a:schemeClr val="accent6"/>
            </a:solidFill>
            <a:prstDash val="solid"/>
            <a:tailEnd type="triangle"/>
          </a:ln>
        </p:spPr>
      </p:sp>
      <p:sp>
        <p:nvSpPr>
          <p:cNvPr id="12" name="Card 31"/>
          <p:cNvSpPr/>
          <p:nvPr/>
        </p:nvSpPr>
        <p:spPr>
          <a:xfrm>
            <a:off x="2286000" y="3154680"/>
            <a:ext cx="2194560" cy="548640"/>
          </a:xfrm>
          <a:prstGeom prst="roundRect">
            <a:avLst>
              <a:gd name="adj" fmla="val 20000"/>
            </a:avLst>
          </a:prstGeom>
          <a:solidFill>
            <a:schemeClr val="bg2"/>
          </a:solidFill>
          <a:ln/>
        </p:spPr>
      </p:sp>
      <p:sp>
        <p:nvSpPr>
          <p:cNvPr id="13" name="Text 32"/>
          <p:cNvSpPr txBox="1"/>
          <p:nvPr/>
        </p:nvSpPr>
        <p:spPr>
          <a:xfrm>
            <a:off x="2423160" y="3154680"/>
            <a:ext cx="2011680" cy="548640"/>
          </a:xfrm>
          <a:prstGeom prst="rect">
            <a:avLst/>
          </a:prstGeom>
          <a:noFill/>
          <a:ln/>
        </p:spPr>
        <p:txBody>
          <a:bodyPr wrap="square" lIns="0" tIns="0" rIns="0" bIns="0" rtlCol="0" anchor="ctr"/>
          <a:lstStyle/>
          <a:p>
            <a:pPr indent="0" marL="0">
              <a:buNone/>
            </a:pPr>
            <a:r>
              <a:rPr lang="en-US" sz="1200" b="1" dirty="0">
                <a:solidFill>
                  <a:schemeClr val="tx2"/>
                </a:solidFill>
              </a:rPr>
              <a:t>Concessionaire C</a:t>
            </a:r>
            <a:endParaRPr lang="en-US" sz="1200" dirty="0"/>
          </a:p>
          <a:p>
            <a:pPr indent="0" marL="0">
              <a:buNone/>
            </a:pPr>
            <a:r>
              <a:rPr lang="en-US" sz="1000" dirty="0">
                <a:solidFill>
                  <a:schemeClr val="accent6"/>
                </a:solidFill>
              </a:rPr>
              <a:t>own login and payments</a:t>
            </a:r>
            <a:endParaRPr lang="en-US" sz="1200" dirty="0"/>
          </a:p>
        </p:txBody>
      </p:sp>
      <p:sp>
        <p:nvSpPr>
          <p:cNvPr id="14" name="Connector 33"/>
          <p:cNvSpPr/>
          <p:nvPr/>
        </p:nvSpPr>
        <p:spPr>
          <a:xfrm>
            <a:off x="1280160" y="3063240"/>
            <a:ext cx="1005840" cy="365760"/>
          </a:xfrm>
          <a:prstGeom prst="line">
            <a:avLst/>
          </a:prstGeom>
          <a:noFill/>
          <a:ln w="19050">
            <a:solidFill>
              <a:schemeClr val="accent6"/>
            </a:solidFill>
            <a:prstDash val="solid"/>
            <a:tailEnd type="triangle"/>
          </a:ln>
        </p:spPr>
      </p:sp>
      <p:sp>
        <p:nvSpPr>
          <p:cNvPr id="15" name="Card 34"/>
          <p:cNvSpPr/>
          <p:nvPr/>
        </p:nvSpPr>
        <p:spPr>
          <a:xfrm>
            <a:off x="2286000" y="3840480"/>
            <a:ext cx="2194560" cy="548640"/>
          </a:xfrm>
          <a:prstGeom prst="roundRect">
            <a:avLst>
              <a:gd name="adj" fmla="val 20000"/>
            </a:avLst>
          </a:prstGeom>
          <a:solidFill>
            <a:schemeClr val="bg2"/>
          </a:solidFill>
          <a:ln/>
        </p:spPr>
      </p:sp>
      <p:sp>
        <p:nvSpPr>
          <p:cNvPr id="16" name="Text 35"/>
          <p:cNvSpPr txBox="1"/>
          <p:nvPr/>
        </p:nvSpPr>
        <p:spPr>
          <a:xfrm>
            <a:off x="2423160" y="3840480"/>
            <a:ext cx="2011680" cy="548640"/>
          </a:xfrm>
          <a:prstGeom prst="rect">
            <a:avLst/>
          </a:prstGeom>
          <a:noFill/>
          <a:ln/>
        </p:spPr>
        <p:txBody>
          <a:bodyPr wrap="square" lIns="0" tIns="0" rIns="0" bIns="0" rtlCol="0" anchor="ctr"/>
          <a:lstStyle/>
          <a:p>
            <a:pPr indent="0" marL="0">
              <a:buNone/>
            </a:pPr>
            <a:r>
              <a:rPr lang="en-US" sz="1200" b="1" dirty="0">
                <a:solidFill>
                  <a:schemeClr val="tx2"/>
                </a:solidFill>
              </a:rPr>
              <a:t>Concessionaire D</a:t>
            </a:r>
            <a:endParaRPr lang="en-US" sz="1200" dirty="0"/>
          </a:p>
          <a:p>
            <a:pPr indent="0" marL="0">
              <a:buNone/>
            </a:pPr>
            <a:r>
              <a:rPr lang="en-US" sz="1000" dirty="0">
                <a:solidFill>
                  <a:schemeClr val="accent6"/>
                </a:solidFill>
              </a:rPr>
              <a:t>own login and payments</a:t>
            </a:r>
            <a:endParaRPr lang="en-US" sz="1200" dirty="0"/>
          </a:p>
        </p:txBody>
      </p:sp>
      <p:sp>
        <p:nvSpPr>
          <p:cNvPr id="17" name="Connector 36"/>
          <p:cNvSpPr/>
          <p:nvPr/>
        </p:nvSpPr>
        <p:spPr>
          <a:xfrm>
            <a:off x="1280160" y="3063240"/>
            <a:ext cx="1005840" cy="1051560"/>
          </a:xfrm>
          <a:prstGeom prst="line">
            <a:avLst/>
          </a:prstGeom>
          <a:noFill/>
          <a:ln w="19050">
            <a:solidFill>
              <a:schemeClr val="accent6"/>
            </a:solidFill>
            <a:prstDash val="solid"/>
            <a:tailEnd type="triangle"/>
          </a:ln>
        </p:spPr>
      </p:sp>
      <p:sp>
        <p:nvSpPr>
          <p:cNvPr id="18" name="Icon circle 37"/>
          <p:cNvSpPr/>
          <p:nvPr/>
        </p:nvSpPr>
        <p:spPr>
          <a:xfrm>
            <a:off x="4846320" y="1737360"/>
            <a:ext cx="548640" cy="548640"/>
          </a:xfrm>
          <a:prstGeom prst="ellipse">
            <a:avLst/>
          </a:prstGeom>
          <a:solidFill>
            <a:schemeClr val="accent5"/>
          </a:solidFill>
          <a:ln/>
        </p:spPr>
      </p:sp>
      <p:pic>
        <p:nvPicPr>
          <p:cNvPr id="19" name="Icon 38" descr="FaUsers">    </p:cNvPr>
          <p:cNvPicPr>
            <a:picLocks noChangeAspect="1"/>
          </p:cNvPicPr>
          <p:nvPr/>
        </p:nvPicPr>
        <p:blipFill>
          <a:blip r:embed="rId2"/>
          <a:stretch>
            <a:fillRect/>
          </a:stretch>
        </p:blipFill>
        <p:spPr>
          <a:xfrm>
            <a:off x="4983480" y="1874520"/>
            <a:ext cx="274320" cy="274320"/>
          </a:xfrm>
          <a:prstGeom prst="rect">
            <a:avLst/>
          </a:prstGeom>
        </p:spPr>
      </p:pic>
      <p:sp>
        <p:nvSpPr>
          <p:cNvPr id="20" name="Text 39"/>
          <p:cNvSpPr txBox="1"/>
          <p:nvPr/>
        </p:nvSpPr>
        <p:spPr>
          <a:xfrm>
            <a:off x="5577840" y="1737360"/>
            <a:ext cx="3108960" cy="274320"/>
          </a:xfrm>
          <a:prstGeom prst="rect">
            <a:avLst/>
          </a:prstGeom>
          <a:noFill/>
          <a:ln/>
        </p:spPr>
        <p:txBody>
          <a:bodyPr wrap="square" lIns="0" tIns="0" rIns="0" bIns="0" rtlCol="0" anchor="t"/>
          <a:lstStyle/>
          <a:p>
            <a:pPr indent="0" marL="0">
              <a:buNone/>
            </a:pPr>
            <a:r>
              <a:rPr lang="en-US" sz="1600" b="1" dirty="0">
                <a:solidFill>
                  <a:schemeClr val="tx2"/>
                </a:solidFill>
              </a:rPr>
              <a:t>Many logins, many apps</a:t>
            </a:r>
            <a:endParaRPr lang="en-US" sz="1600" dirty="0"/>
          </a:p>
        </p:txBody>
      </p:sp>
      <p:sp>
        <p:nvSpPr>
          <p:cNvPr id="21" name="Text 40"/>
          <p:cNvSpPr txBox="1"/>
          <p:nvPr/>
        </p:nvSpPr>
        <p:spPr>
          <a:xfrm>
            <a:off x="5577840" y="2029968"/>
            <a:ext cx="3108960" cy="548640"/>
          </a:xfrm>
          <a:prstGeom prst="rect">
            <a:avLst/>
          </a:prstGeom>
          <a:noFill/>
          <a:ln/>
        </p:spPr>
        <p:txBody>
          <a:bodyPr wrap="square" lIns="0" tIns="0" rIns="0" bIns="0" rtlCol="0" anchor="t"/>
          <a:lstStyle/>
          <a:p>
            <a:pPr indent="0" marL="0">
              <a:buNone/>
            </a:pPr>
            <a:r>
              <a:rPr lang="en-US" sz="1400" dirty="0">
                <a:solidFill>
                  <a:schemeClr val="tx1"/>
                </a:solidFill>
              </a:rPr>
              <a:t>A landlord in two municipalities juggles separate accounts.</a:t>
            </a:r>
            <a:endParaRPr lang="en-US" sz="1400" dirty="0"/>
          </a:p>
        </p:txBody>
      </p:sp>
      <p:sp>
        <p:nvSpPr>
          <p:cNvPr id="22" name="Icon circle 41"/>
          <p:cNvSpPr/>
          <p:nvPr/>
        </p:nvSpPr>
        <p:spPr>
          <a:xfrm>
            <a:off x="4846320" y="2697480"/>
            <a:ext cx="548640" cy="548640"/>
          </a:xfrm>
          <a:prstGeom prst="ellipse">
            <a:avLst/>
          </a:prstGeom>
          <a:solidFill>
            <a:schemeClr val="accent5"/>
          </a:solidFill>
          <a:ln/>
        </p:spPr>
      </p:sp>
      <p:pic>
        <p:nvPicPr>
          <p:cNvPr id="23" name="Icon 42" descr="FaExchangeAlt">    </p:cNvPr>
          <p:cNvPicPr>
            <a:picLocks noChangeAspect="1"/>
          </p:cNvPicPr>
          <p:nvPr/>
        </p:nvPicPr>
        <p:blipFill>
          <a:blip r:embed="rId3"/>
          <a:stretch>
            <a:fillRect/>
          </a:stretch>
        </p:blipFill>
        <p:spPr>
          <a:xfrm>
            <a:off x="4983480" y="2834640"/>
            <a:ext cx="274320" cy="274320"/>
          </a:xfrm>
          <a:prstGeom prst="rect">
            <a:avLst/>
          </a:prstGeom>
        </p:spPr>
      </p:pic>
      <p:sp>
        <p:nvSpPr>
          <p:cNvPr id="24" name="Text 43"/>
          <p:cNvSpPr txBox="1"/>
          <p:nvPr/>
        </p:nvSpPr>
        <p:spPr>
          <a:xfrm>
            <a:off x="5577840" y="2697480"/>
            <a:ext cx="3108960" cy="274320"/>
          </a:xfrm>
          <a:prstGeom prst="rect">
            <a:avLst/>
          </a:prstGeom>
          <a:noFill/>
          <a:ln/>
        </p:spPr>
        <p:txBody>
          <a:bodyPr wrap="square" lIns="0" tIns="0" rIns="0" bIns="0" rtlCol="0" anchor="t"/>
          <a:lstStyle/>
          <a:p>
            <a:pPr indent="0" marL="0">
              <a:buNone/>
            </a:pPr>
            <a:r>
              <a:rPr lang="en-US" sz="1600" b="1" dirty="0">
                <a:solidFill>
                  <a:schemeClr val="tx2"/>
                </a:solidFill>
              </a:rPr>
              <a:t>Payments matched late</a:t>
            </a:r>
            <a:endParaRPr lang="en-US" sz="1600" dirty="0"/>
          </a:p>
        </p:txBody>
      </p:sp>
      <p:sp>
        <p:nvSpPr>
          <p:cNvPr id="25" name="Text 44"/>
          <p:cNvSpPr txBox="1"/>
          <p:nvPr/>
        </p:nvSpPr>
        <p:spPr>
          <a:xfrm>
            <a:off x="5577840" y="2990088"/>
            <a:ext cx="3108960" cy="548640"/>
          </a:xfrm>
          <a:prstGeom prst="rect">
            <a:avLst/>
          </a:prstGeom>
          <a:noFill/>
          <a:ln/>
        </p:spPr>
        <p:txBody>
          <a:bodyPr wrap="square" lIns="0" tIns="0" rIns="0" bIns="0" rtlCol="0" anchor="t"/>
          <a:lstStyle/>
          <a:p>
            <a:pPr indent="0" marL="0">
              <a:buNone/>
            </a:pPr>
            <a:r>
              <a:rPr lang="en-US" sz="1400" dirty="0">
                <a:solidFill>
                  <a:schemeClr val="tx1"/>
                </a:solidFill>
              </a:rPr>
              <a:t>CROIP reconciles only after four systems report in.</a:t>
            </a:r>
            <a:endParaRPr lang="en-US" sz="1400" dirty="0"/>
          </a:p>
        </p:txBody>
      </p:sp>
      <p:sp>
        <p:nvSpPr>
          <p:cNvPr id="26" name="Icon circle 45"/>
          <p:cNvSpPr/>
          <p:nvPr/>
        </p:nvSpPr>
        <p:spPr>
          <a:xfrm>
            <a:off x="4846320" y="3657600"/>
            <a:ext cx="548640" cy="548640"/>
          </a:xfrm>
          <a:prstGeom prst="ellipse">
            <a:avLst/>
          </a:prstGeom>
          <a:solidFill>
            <a:schemeClr val="accent5"/>
          </a:solidFill>
          <a:ln/>
        </p:spPr>
      </p:sp>
      <p:pic>
        <p:nvPicPr>
          <p:cNvPr id="27" name="Icon 46" descr="FaLayerGroup">    </p:cNvPr>
          <p:cNvPicPr>
            <a:picLocks noChangeAspect="1"/>
          </p:cNvPicPr>
          <p:nvPr/>
        </p:nvPicPr>
        <p:blipFill>
          <a:blip r:embed="rId4"/>
          <a:stretch>
            <a:fillRect/>
          </a:stretch>
        </p:blipFill>
        <p:spPr>
          <a:xfrm>
            <a:off x="4983480" y="3794760"/>
            <a:ext cx="274320" cy="274320"/>
          </a:xfrm>
          <a:prstGeom prst="rect">
            <a:avLst/>
          </a:prstGeom>
        </p:spPr>
      </p:pic>
      <p:sp>
        <p:nvSpPr>
          <p:cNvPr id="28" name="Text 47"/>
          <p:cNvSpPr txBox="1"/>
          <p:nvPr/>
        </p:nvSpPr>
        <p:spPr>
          <a:xfrm>
            <a:off x="5577840" y="3657600"/>
            <a:ext cx="3108960" cy="274320"/>
          </a:xfrm>
          <a:prstGeom prst="rect">
            <a:avLst/>
          </a:prstGeom>
          <a:noFill/>
          <a:ln/>
        </p:spPr>
        <p:txBody>
          <a:bodyPr wrap="square" lIns="0" tIns="0" rIns="0" bIns="0" rtlCol="0" anchor="t"/>
          <a:lstStyle/>
          <a:p>
            <a:pPr indent="0" marL="0">
              <a:buNone/>
            </a:pPr>
            <a:r>
              <a:rPr lang="en-US" sz="1600" b="1" dirty="0">
                <a:solidFill>
                  <a:schemeClr val="tx2"/>
                </a:solidFill>
              </a:rPr>
              <a:t>Uneven experience</a:t>
            </a:r>
            <a:endParaRPr lang="en-US" sz="1600" dirty="0"/>
          </a:p>
        </p:txBody>
      </p:sp>
      <p:sp>
        <p:nvSpPr>
          <p:cNvPr id="29" name="Text 48"/>
          <p:cNvSpPr txBox="1"/>
          <p:nvPr/>
        </p:nvSpPr>
        <p:spPr>
          <a:xfrm>
            <a:off x="5577840" y="3950208"/>
            <a:ext cx="3108960" cy="548640"/>
          </a:xfrm>
          <a:prstGeom prst="rect">
            <a:avLst/>
          </a:prstGeom>
          <a:noFill/>
          <a:ln/>
        </p:spPr>
        <p:txBody>
          <a:bodyPr wrap="square" lIns="0" tIns="0" rIns="0" bIns="0" rtlCol="0" anchor="t"/>
          <a:lstStyle/>
          <a:p>
            <a:pPr indent="0" marL="0">
              <a:buNone/>
            </a:pPr>
            <a:r>
              <a:rPr lang="en-US" sz="1400" dirty="0">
                <a:solidFill>
                  <a:schemeClr val="tx1"/>
                </a:solidFill>
              </a:rPr>
              <a:t>Payment options and data quality differ by concessionaire.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Approach 2 at a glance</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CROIP is the front door; concessionaires build and run what is local.</a:t>
            </a:r>
            <a:endParaRPr lang="en-US" sz="1600" dirty="0"/>
          </a:p>
        </p:txBody>
      </p:sp>
      <p:sp>
        <p:nvSpPr>
          <p:cNvPr id="4" name="Card 49"/>
          <p:cNvSpPr/>
          <p:nvPr/>
        </p:nvSpPr>
        <p:spPr>
          <a:xfrm>
            <a:off x="457200" y="2194560"/>
            <a:ext cx="1828800" cy="1645920"/>
          </a:xfrm>
          <a:prstGeom prst="roundRect">
            <a:avLst>
              <a:gd name="adj" fmla="val 6667"/>
            </a:avLst>
          </a:prstGeom>
          <a:solidFill>
            <a:schemeClr val="bg2"/>
          </a:solidFill>
          <a:ln/>
        </p:spPr>
      </p:sp>
      <p:sp>
        <p:nvSpPr>
          <p:cNvPr id="5" name="Icon circle 50"/>
          <p:cNvSpPr/>
          <p:nvPr/>
        </p:nvSpPr>
        <p:spPr>
          <a:xfrm>
            <a:off x="1097280" y="2331720"/>
            <a:ext cx="548640" cy="548640"/>
          </a:xfrm>
          <a:prstGeom prst="ellipse">
            <a:avLst/>
          </a:prstGeom>
          <a:solidFill>
            <a:schemeClr val="accent1"/>
          </a:solidFill>
          <a:ln/>
        </p:spPr>
      </p:sp>
      <p:pic>
        <p:nvPicPr>
          <p:cNvPr id="6" name="Icon 51" descr="FaMobileAlt">    </p:cNvPr>
          <p:cNvPicPr>
            <a:picLocks noChangeAspect="1"/>
          </p:cNvPicPr>
          <p:nvPr/>
        </p:nvPicPr>
        <p:blipFill>
          <a:blip r:embed="rId1"/>
          <a:stretch>
            <a:fillRect/>
          </a:stretch>
        </p:blipFill>
        <p:spPr>
          <a:xfrm>
            <a:off x="1234440" y="2468880"/>
            <a:ext cx="274320" cy="274320"/>
          </a:xfrm>
          <a:prstGeom prst="rect">
            <a:avLst/>
          </a:prstGeom>
        </p:spPr>
      </p:pic>
      <p:sp>
        <p:nvSpPr>
          <p:cNvPr id="7" name="Text 52"/>
          <p:cNvSpPr txBox="1"/>
          <p:nvPr/>
        </p:nvSpPr>
        <p:spPr>
          <a:xfrm>
            <a:off x="548640" y="297180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Ratepayer</a:t>
            </a:r>
            <a:endParaRPr lang="en-US" sz="1400" dirty="0"/>
          </a:p>
        </p:txBody>
      </p:sp>
      <p:sp>
        <p:nvSpPr>
          <p:cNvPr id="8" name="Text 53"/>
          <p:cNvSpPr txBox="1"/>
          <p:nvPr/>
        </p:nvSpPr>
        <p:spPr>
          <a:xfrm>
            <a:off x="548640" y="3246120"/>
            <a:ext cx="1645920" cy="457200"/>
          </a:xfrm>
          <a:prstGeom prst="rect">
            <a:avLst/>
          </a:prstGeom>
          <a:noFill/>
          <a:ln/>
        </p:spPr>
        <p:txBody>
          <a:bodyPr wrap="square" lIns="0" tIns="0" rIns="0" bIns="0" rtlCol="0" anchor="t"/>
          <a:lstStyle/>
          <a:p>
            <a:pPr algn="ctr" indent="0" marL="0">
              <a:buNone/>
            </a:pPr>
            <a:r>
              <a:rPr lang="en-US" sz="1200" dirty="0">
                <a:solidFill>
                  <a:schemeClr val="accent6"/>
                </a:solidFill>
              </a:rPr>
              <a:t>Universal app, one login</a:t>
            </a:r>
            <a:endParaRPr lang="en-US" sz="1200" dirty="0"/>
          </a:p>
        </p:txBody>
      </p:sp>
      <p:sp>
        <p:nvSpPr>
          <p:cNvPr id="9" name="Card 54"/>
          <p:cNvSpPr/>
          <p:nvPr/>
        </p:nvSpPr>
        <p:spPr>
          <a:xfrm>
            <a:off x="2834640" y="1691640"/>
            <a:ext cx="3474720" cy="2057400"/>
          </a:xfrm>
          <a:prstGeom prst="roundRect">
            <a:avLst>
              <a:gd name="adj" fmla="val 5333"/>
            </a:avLst>
          </a:prstGeom>
          <a:solidFill>
            <a:schemeClr val="tx2"/>
          </a:solidFill>
          <a:ln/>
        </p:spPr>
      </p:sp>
      <p:sp>
        <p:nvSpPr>
          <p:cNvPr id="10" name="Text 55"/>
          <p:cNvSpPr txBox="1"/>
          <p:nvPr/>
        </p:nvSpPr>
        <p:spPr>
          <a:xfrm>
            <a:off x="2971800" y="1783080"/>
            <a:ext cx="3200400" cy="365760"/>
          </a:xfrm>
          <a:prstGeom prst="rect">
            <a:avLst/>
          </a:prstGeom>
          <a:noFill/>
          <a:ln/>
        </p:spPr>
        <p:txBody>
          <a:bodyPr wrap="square" lIns="0" tIns="0" rIns="0" bIns="0" rtlCol="0" anchor="ctr"/>
          <a:lstStyle/>
          <a:p>
            <a:pPr indent="0" marL="0">
              <a:buNone/>
            </a:pPr>
            <a:r>
              <a:rPr lang="en-US" sz="1800" b="1" dirty="0">
                <a:solidFill>
                  <a:schemeClr val="accent2"/>
                </a:solidFill>
              </a:rPr>
              <a:t>CROIP</a:t>
            </a:r>
            <a:endParaRPr lang="en-US" sz="1800" dirty="0"/>
          </a:p>
        </p:txBody>
      </p:sp>
      <p:sp>
        <p:nvSpPr>
          <p:cNvPr id="11" name="Card 56"/>
          <p:cNvSpPr/>
          <p:nvPr/>
        </p:nvSpPr>
        <p:spPr>
          <a:xfrm>
            <a:off x="2971800" y="2286000"/>
            <a:ext cx="1554480" cy="594360"/>
          </a:xfrm>
          <a:prstGeom prst="roundRect">
            <a:avLst>
              <a:gd name="adj" fmla="val 18462"/>
            </a:avLst>
          </a:prstGeom>
          <a:solidFill>
            <a:schemeClr val="bg2"/>
          </a:solidFill>
          <a:ln/>
        </p:spPr>
      </p:sp>
      <p:sp>
        <p:nvSpPr>
          <p:cNvPr id="12" name="Text 57"/>
          <p:cNvSpPr txBox="1"/>
          <p:nvPr/>
        </p:nvSpPr>
        <p:spPr>
          <a:xfrm>
            <a:off x="3017520" y="2286000"/>
            <a:ext cx="1463040" cy="594360"/>
          </a:xfrm>
          <a:prstGeom prst="rect">
            <a:avLst/>
          </a:prstGeom>
          <a:noFill/>
          <a:ln/>
        </p:spPr>
        <p:txBody>
          <a:bodyPr wrap="square" lIns="0" tIns="0" rIns="0" bIns="0" rtlCol="0" anchor="ctr"/>
          <a:lstStyle/>
          <a:p>
            <a:pPr algn="ctr" indent="0" marL="0">
              <a:buNone/>
            </a:pPr>
            <a:r>
              <a:rPr lang="en-US" sz="1200" b="1" dirty="0">
                <a:solidFill>
                  <a:schemeClr val="tx2"/>
                </a:solidFill>
              </a:rPr>
              <a:t>Property registry</a:t>
            </a:r>
            <a:endParaRPr lang="en-US" sz="1200" dirty="0"/>
          </a:p>
        </p:txBody>
      </p:sp>
      <p:sp>
        <p:nvSpPr>
          <p:cNvPr id="13" name="Card 58"/>
          <p:cNvSpPr/>
          <p:nvPr/>
        </p:nvSpPr>
        <p:spPr>
          <a:xfrm>
            <a:off x="4617720" y="2286000"/>
            <a:ext cx="1554480" cy="594360"/>
          </a:xfrm>
          <a:prstGeom prst="roundRect">
            <a:avLst>
              <a:gd name="adj" fmla="val 18462"/>
            </a:avLst>
          </a:prstGeom>
          <a:solidFill>
            <a:schemeClr val="bg2"/>
          </a:solidFill>
          <a:ln/>
        </p:spPr>
      </p:sp>
      <p:sp>
        <p:nvSpPr>
          <p:cNvPr id="14" name="Text 59"/>
          <p:cNvSpPr txBox="1"/>
          <p:nvPr/>
        </p:nvSpPr>
        <p:spPr>
          <a:xfrm>
            <a:off x="4663440" y="2286000"/>
            <a:ext cx="1463040" cy="594360"/>
          </a:xfrm>
          <a:prstGeom prst="rect">
            <a:avLst/>
          </a:prstGeom>
          <a:noFill/>
          <a:ln/>
        </p:spPr>
        <p:txBody>
          <a:bodyPr wrap="square" lIns="0" tIns="0" rIns="0" bIns="0" rtlCol="0" anchor="ctr"/>
          <a:lstStyle/>
          <a:p>
            <a:pPr algn="ctr" indent="0" marL="0">
              <a:buNone/>
            </a:pPr>
            <a:r>
              <a:rPr lang="en-US" sz="1200" b="1" dirty="0">
                <a:solidFill>
                  <a:schemeClr val="tx2"/>
                </a:solidFill>
              </a:rPr>
              <a:t>Payment APIs</a:t>
            </a:r>
            <a:endParaRPr lang="en-US" sz="1200" dirty="0"/>
          </a:p>
        </p:txBody>
      </p:sp>
      <p:sp>
        <p:nvSpPr>
          <p:cNvPr id="15" name="Card 60"/>
          <p:cNvSpPr/>
          <p:nvPr/>
        </p:nvSpPr>
        <p:spPr>
          <a:xfrm>
            <a:off x="2971800" y="2971800"/>
            <a:ext cx="1554480" cy="594360"/>
          </a:xfrm>
          <a:prstGeom prst="roundRect">
            <a:avLst>
              <a:gd name="adj" fmla="val 18462"/>
            </a:avLst>
          </a:prstGeom>
          <a:solidFill>
            <a:schemeClr val="bg2"/>
          </a:solidFill>
          <a:ln/>
        </p:spPr>
      </p:sp>
      <p:sp>
        <p:nvSpPr>
          <p:cNvPr id="16" name="Text 61"/>
          <p:cNvSpPr txBox="1"/>
          <p:nvPr/>
        </p:nvSpPr>
        <p:spPr>
          <a:xfrm>
            <a:off x="3017520" y="2971800"/>
            <a:ext cx="1463040" cy="594360"/>
          </a:xfrm>
          <a:prstGeom prst="rect">
            <a:avLst/>
          </a:prstGeom>
          <a:noFill/>
          <a:ln/>
        </p:spPr>
        <p:txBody>
          <a:bodyPr wrap="square" lIns="0" tIns="0" rIns="0" bIns="0" rtlCol="0" anchor="ctr"/>
          <a:lstStyle/>
          <a:p>
            <a:pPr algn="ctr" indent="0" marL="0">
              <a:buNone/>
            </a:pPr>
            <a:r>
              <a:rPr lang="en-US" sz="1200" b="1" dirty="0">
                <a:solidFill>
                  <a:schemeClr val="tx2"/>
                </a:solidFill>
              </a:rPr>
              <a:t>Rate cards + calculator</a:t>
            </a:r>
            <a:endParaRPr lang="en-US" sz="1200" dirty="0"/>
          </a:p>
        </p:txBody>
      </p:sp>
      <p:sp>
        <p:nvSpPr>
          <p:cNvPr id="17" name="Card 62"/>
          <p:cNvSpPr/>
          <p:nvPr/>
        </p:nvSpPr>
        <p:spPr>
          <a:xfrm>
            <a:off x="4617720" y="2971800"/>
            <a:ext cx="1554480" cy="594360"/>
          </a:xfrm>
          <a:prstGeom prst="roundRect">
            <a:avLst>
              <a:gd name="adj" fmla="val 18462"/>
            </a:avLst>
          </a:prstGeom>
          <a:solidFill>
            <a:schemeClr val="bg2"/>
          </a:solidFill>
          <a:ln/>
        </p:spPr>
      </p:sp>
      <p:sp>
        <p:nvSpPr>
          <p:cNvPr id="18" name="Text 63"/>
          <p:cNvSpPr txBox="1"/>
          <p:nvPr/>
        </p:nvSpPr>
        <p:spPr>
          <a:xfrm>
            <a:off x="4663440" y="2971800"/>
            <a:ext cx="1463040" cy="594360"/>
          </a:xfrm>
          <a:prstGeom prst="rect">
            <a:avLst/>
          </a:prstGeom>
          <a:noFill/>
          <a:ln/>
        </p:spPr>
        <p:txBody>
          <a:bodyPr wrap="square" lIns="0" tIns="0" rIns="0" bIns="0" rtlCol="0" anchor="ctr"/>
          <a:lstStyle/>
          <a:p>
            <a:pPr algn="ctr" indent="0" marL="0">
              <a:buNone/>
            </a:pPr>
            <a:r>
              <a:rPr lang="en-US" sz="1200" b="1" dirty="0">
                <a:solidFill>
                  <a:schemeClr val="tx2"/>
                </a:solidFill>
              </a:rPr>
              <a:t>Support tickets</a:t>
            </a:r>
            <a:endParaRPr lang="en-US" sz="1200" dirty="0"/>
          </a:p>
        </p:txBody>
      </p:sp>
      <p:sp>
        <p:nvSpPr>
          <p:cNvPr id="19" name="Connector 64"/>
          <p:cNvSpPr/>
          <p:nvPr/>
        </p:nvSpPr>
        <p:spPr>
          <a:xfrm>
            <a:off x="3680460" y="3749040"/>
            <a:ext cx="0" cy="182880"/>
          </a:xfrm>
          <a:prstGeom prst="line">
            <a:avLst/>
          </a:prstGeom>
          <a:noFill/>
          <a:ln w="19050">
            <a:solidFill>
              <a:schemeClr val="accent2"/>
            </a:solidFill>
            <a:prstDash val="solid"/>
            <a:headEnd type="triangle"/>
            <a:tailEnd type="triangle"/>
          </a:ln>
        </p:spPr>
      </p:sp>
      <p:sp>
        <p:nvSpPr>
          <p:cNvPr id="20" name="Connector 65"/>
          <p:cNvSpPr/>
          <p:nvPr/>
        </p:nvSpPr>
        <p:spPr>
          <a:xfrm>
            <a:off x="5463540" y="3749040"/>
            <a:ext cx="0" cy="182880"/>
          </a:xfrm>
          <a:prstGeom prst="line">
            <a:avLst/>
          </a:prstGeom>
          <a:noFill/>
          <a:ln w="19050">
            <a:solidFill>
              <a:schemeClr val="accent2"/>
            </a:solidFill>
            <a:prstDash val="solid"/>
            <a:headEnd type="triangle"/>
            <a:tailEnd type="triangle"/>
          </a:ln>
        </p:spPr>
      </p:sp>
      <p:sp>
        <p:nvSpPr>
          <p:cNvPr id="21" name="Card 66"/>
          <p:cNvSpPr/>
          <p:nvPr/>
        </p:nvSpPr>
        <p:spPr>
          <a:xfrm>
            <a:off x="2834640" y="3931920"/>
            <a:ext cx="1691640" cy="502920"/>
          </a:xfrm>
          <a:prstGeom prst="roundRect">
            <a:avLst>
              <a:gd name="adj" fmla="val 21818"/>
            </a:avLst>
          </a:prstGeom>
          <a:solidFill>
            <a:schemeClr val="bg1"/>
          </a:solidFill>
          <a:ln w="19050">
            <a:solidFill>
              <a:schemeClr val="accent2"/>
            </a:solidFill>
            <a:prstDash val="solid"/>
          </a:ln>
        </p:spPr>
      </p:sp>
      <p:sp>
        <p:nvSpPr>
          <p:cNvPr id="22" name="Text 67"/>
          <p:cNvSpPr txBox="1"/>
          <p:nvPr/>
        </p:nvSpPr>
        <p:spPr>
          <a:xfrm>
            <a:off x="2834640" y="3931920"/>
            <a:ext cx="1691640" cy="502920"/>
          </a:xfrm>
          <a:prstGeom prst="rect">
            <a:avLst/>
          </a:prstGeom>
          <a:noFill/>
          <a:ln/>
        </p:spPr>
        <p:txBody>
          <a:bodyPr wrap="square" lIns="0" tIns="0" rIns="0" bIns="0" rtlCol="0" anchor="ctr"/>
          <a:lstStyle/>
          <a:p>
            <a:pPr algn="ctr" indent="0" marL="0">
              <a:buNone/>
            </a:pPr>
            <a:r>
              <a:rPr lang="en-US" sz="1200" b="1" dirty="0">
                <a:solidFill>
                  <a:schemeClr val="tx2"/>
                </a:solidFill>
              </a:rPr>
              <a:t>Partner bank</a:t>
            </a:r>
            <a:endParaRPr lang="en-US" sz="1200" dirty="0"/>
          </a:p>
        </p:txBody>
      </p:sp>
      <p:sp>
        <p:nvSpPr>
          <p:cNvPr id="23" name="Card 68"/>
          <p:cNvSpPr/>
          <p:nvPr/>
        </p:nvSpPr>
        <p:spPr>
          <a:xfrm>
            <a:off x="4617720" y="3931920"/>
            <a:ext cx="1691640" cy="502920"/>
          </a:xfrm>
          <a:prstGeom prst="roundRect">
            <a:avLst>
              <a:gd name="adj" fmla="val 21818"/>
            </a:avLst>
          </a:prstGeom>
          <a:solidFill>
            <a:schemeClr val="bg1"/>
          </a:solidFill>
          <a:ln w="19050">
            <a:solidFill>
              <a:schemeClr val="accent2"/>
            </a:solidFill>
            <a:prstDash val="solid"/>
          </a:ln>
        </p:spPr>
      </p:sp>
      <p:sp>
        <p:nvSpPr>
          <p:cNvPr id="24" name="Text 69"/>
          <p:cNvSpPr txBox="1"/>
          <p:nvPr/>
        </p:nvSpPr>
        <p:spPr>
          <a:xfrm>
            <a:off x="4617720" y="3931920"/>
            <a:ext cx="1691640" cy="502920"/>
          </a:xfrm>
          <a:prstGeom prst="rect">
            <a:avLst/>
          </a:prstGeom>
          <a:noFill/>
          <a:ln/>
        </p:spPr>
        <p:txBody>
          <a:bodyPr wrap="square" lIns="0" tIns="0" rIns="0" bIns="0" rtlCol="0" anchor="ctr"/>
          <a:lstStyle/>
          <a:p>
            <a:pPr algn="ctr" indent="0" marL="0">
              <a:buNone/>
            </a:pPr>
            <a:r>
              <a:rPr lang="en-US" sz="1200" b="1" dirty="0">
                <a:solidFill>
                  <a:schemeClr val="tx2"/>
                </a:solidFill>
              </a:rPr>
              <a:t>LVD valuation list</a:t>
            </a:r>
            <a:endParaRPr lang="en-US" sz="1200" dirty="0"/>
          </a:p>
        </p:txBody>
      </p:sp>
      <p:sp>
        <p:nvSpPr>
          <p:cNvPr id="25" name="Card 70"/>
          <p:cNvSpPr/>
          <p:nvPr/>
        </p:nvSpPr>
        <p:spPr>
          <a:xfrm>
            <a:off x="6858000" y="2194560"/>
            <a:ext cx="1828800" cy="1645920"/>
          </a:xfrm>
          <a:prstGeom prst="roundRect">
            <a:avLst>
              <a:gd name="adj" fmla="val 6667"/>
            </a:avLst>
          </a:prstGeom>
          <a:solidFill>
            <a:schemeClr val="bg2"/>
          </a:solidFill>
          <a:ln/>
        </p:spPr>
      </p:sp>
      <p:sp>
        <p:nvSpPr>
          <p:cNvPr id="26" name="Icon circle 71"/>
          <p:cNvSpPr/>
          <p:nvPr/>
        </p:nvSpPr>
        <p:spPr>
          <a:xfrm>
            <a:off x="7498080" y="2331720"/>
            <a:ext cx="548640" cy="548640"/>
          </a:xfrm>
          <a:prstGeom prst="ellipse">
            <a:avLst/>
          </a:prstGeom>
          <a:solidFill>
            <a:schemeClr val="accent1"/>
          </a:solidFill>
          <a:ln/>
        </p:spPr>
      </p:sp>
      <p:pic>
        <p:nvPicPr>
          <p:cNvPr id="27" name="Icon 72" descr="FaBuilding">    </p:cNvPr>
          <p:cNvPicPr>
            <a:picLocks noChangeAspect="1"/>
          </p:cNvPicPr>
          <p:nvPr/>
        </p:nvPicPr>
        <p:blipFill>
          <a:blip r:embed="rId2"/>
          <a:stretch>
            <a:fillRect/>
          </a:stretch>
        </p:blipFill>
        <p:spPr>
          <a:xfrm>
            <a:off x="7635240" y="2468880"/>
            <a:ext cx="274320" cy="274320"/>
          </a:xfrm>
          <a:prstGeom prst="rect">
            <a:avLst/>
          </a:prstGeom>
        </p:spPr>
      </p:pic>
      <p:sp>
        <p:nvSpPr>
          <p:cNvPr id="28" name="Text 73"/>
          <p:cNvSpPr txBox="1"/>
          <p:nvPr/>
        </p:nvSpPr>
        <p:spPr>
          <a:xfrm>
            <a:off x="6949440" y="2971800"/>
            <a:ext cx="1645920" cy="274320"/>
          </a:xfrm>
          <a:prstGeom prst="rect">
            <a:avLst/>
          </a:prstGeom>
          <a:noFill/>
          <a:ln/>
        </p:spPr>
        <p:txBody>
          <a:bodyPr wrap="square" lIns="0" tIns="0" rIns="0" bIns="0" rtlCol="0" anchor="t"/>
          <a:lstStyle/>
          <a:p>
            <a:pPr algn="ctr" indent="0" marL="0">
              <a:buNone/>
            </a:pPr>
            <a:r>
              <a:rPr lang="en-US" sz="1400" b="1" dirty="0">
                <a:solidFill>
                  <a:schemeClr val="tx2"/>
                </a:solidFill>
              </a:rPr>
              <a:t>Concessionaires</a:t>
            </a:r>
            <a:endParaRPr lang="en-US" sz="1400" dirty="0"/>
          </a:p>
        </p:txBody>
      </p:sp>
      <p:sp>
        <p:nvSpPr>
          <p:cNvPr id="29" name="Text 74"/>
          <p:cNvSpPr txBox="1"/>
          <p:nvPr/>
        </p:nvSpPr>
        <p:spPr>
          <a:xfrm>
            <a:off x="6949440" y="3246120"/>
            <a:ext cx="1645920" cy="548640"/>
          </a:xfrm>
          <a:prstGeom prst="rect">
            <a:avLst/>
          </a:prstGeom>
          <a:noFill/>
          <a:ln/>
        </p:spPr>
        <p:txBody>
          <a:bodyPr wrap="square" lIns="0" tIns="0" rIns="0" bIns="0" rtlCol="0" anchor="t"/>
          <a:lstStyle/>
          <a:p>
            <a:pPr algn="ctr" indent="0" marL="0">
              <a:buNone/>
            </a:pPr>
            <a:r>
              <a:rPr lang="en-US" sz="1200" dirty="0">
                <a:solidFill>
                  <a:schemeClr val="accent6"/>
                </a:solidFill>
              </a:rPr>
              <a:t>Own office and agent apps on CROIP APIs</a:t>
            </a:r>
            <a:endParaRPr lang="en-US" sz="1200" dirty="0"/>
          </a:p>
        </p:txBody>
      </p:sp>
      <p:sp>
        <p:nvSpPr>
          <p:cNvPr id="30" name="Connector 75"/>
          <p:cNvSpPr/>
          <p:nvPr/>
        </p:nvSpPr>
        <p:spPr>
          <a:xfrm>
            <a:off x="2286000" y="3017520"/>
            <a:ext cx="548640" cy="0"/>
          </a:xfrm>
          <a:prstGeom prst="line">
            <a:avLst/>
          </a:prstGeom>
          <a:noFill/>
          <a:ln w="19050">
            <a:solidFill>
              <a:schemeClr val="accent6"/>
            </a:solidFill>
            <a:prstDash val="solid"/>
            <a:headEnd type="triangle"/>
            <a:tailEnd type="triangle"/>
          </a:ln>
        </p:spPr>
      </p:sp>
      <p:sp>
        <p:nvSpPr>
          <p:cNvPr id="31" name="Connector 76"/>
          <p:cNvSpPr/>
          <p:nvPr/>
        </p:nvSpPr>
        <p:spPr>
          <a:xfrm>
            <a:off x="6309360" y="3017520"/>
            <a:ext cx="548640" cy="0"/>
          </a:xfrm>
          <a:prstGeom prst="line">
            <a:avLst/>
          </a:prstGeom>
          <a:noFill/>
          <a:ln w="19050">
            <a:solidFill>
              <a:schemeClr val="accent6"/>
            </a:solidFill>
            <a:prstDash val="solid"/>
            <a:headEnd type="triangle"/>
            <a:tailEnd type="triangle"/>
          </a:ln>
        </p:spPr>
      </p:sp>
      <p:sp>
        <p:nvSpPr>
          <p:cNvPr id="32" name="Text 77"/>
          <p:cNvSpPr txBox="1"/>
          <p:nvPr/>
        </p:nvSpPr>
        <p:spPr>
          <a:xfrm>
            <a:off x="2286000" y="2788920"/>
            <a:ext cx="548640" cy="182880"/>
          </a:xfrm>
          <a:prstGeom prst="rect">
            <a:avLst/>
          </a:prstGeom>
          <a:noFill/>
          <a:ln/>
        </p:spPr>
        <p:txBody>
          <a:bodyPr wrap="square" lIns="0" tIns="0" rIns="0" bIns="0" rtlCol="0" anchor="t"/>
          <a:lstStyle/>
          <a:p>
            <a:pPr algn="ctr" indent="0" marL="0">
              <a:buNone/>
            </a:pPr>
            <a:r>
              <a:rPr lang="en-US" sz="1000" dirty="0">
                <a:solidFill>
                  <a:schemeClr val="accent6"/>
                </a:solidFill>
              </a:rPr>
              <a:t>view, pay</a:t>
            </a:r>
            <a:endParaRPr lang="en-US" sz="1000" dirty="0"/>
          </a:p>
        </p:txBody>
      </p:sp>
      <p:sp>
        <p:nvSpPr>
          <p:cNvPr id="33" name="Text 78"/>
          <p:cNvSpPr txBox="1"/>
          <p:nvPr/>
        </p:nvSpPr>
        <p:spPr>
          <a:xfrm>
            <a:off x="6309360" y="2788920"/>
            <a:ext cx="548640" cy="182880"/>
          </a:xfrm>
          <a:prstGeom prst="rect">
            <a:avLst/>
          </a:prstGeom>
          <a:noFill/>
          <a:ln/>
        </p:spPr>
        <p:txBody>
          <a:bodyPr wrap="square" lIns="0" tIns="0" rIns="0" bIns="0" rtlCol="0" anchor="t"/>
          <a:lstStyle/>
          <a:p>
            <a:pPr algn="ctr" indent="0" marL="0">
              <a:buNone/>
            </a:pPr>
            <a:r>
              <a:rPr lang="en-US" sz="1000" dirty="0">
                <a:solidFill>
                  <a:schemeClr val="accent6"/>
                </a:solidFill>
              </a:rPr>
              <a:t>bills, data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One login, every property</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Ratepayers see, add and track all their properties in one app.</a:t>
            </a:r>
            <a:endParaRPr lang="en-US" sz="1600" dirty="0"/>
          </a:p>
        </p:txBody>
      </p:sp>
      <p:sp>
        <p:nvSpPr>
          <p:cNvPr id="4" name="Card 79"/>
          <p:cNvSpPr/>
          <p:nvPr/>
        </p:nvSpPr>
        <p:spPr>
          <a:xfrm>
            <a:off x="457200" y="1691640"/>
            <a:ext cx="4023360" cy="2834640"/>
          </a:xfrm>
          <a:prstGeom prst="roundRect">
            <a:avLst>
              <a:gd name="adj" fmla="val 3871"/>
            </a:avLst>
          </a:prstGeom>
          <a:solidFill>
            <a:schemeClr val="bg2"/>
          </a:solidFill>
          <a:ln/>
        </p:spPr>
      </p:sp>
      <p:sp>
        <p:nvSpPr>
          <p:cNvPr id="5" name="Text 80"/>
          <p:cNvSpPr txBox="1"/>
          <p:nvPr/>
        </p:nvSpPr>
        <p:spPr>
          <a:xfrm>
            <a:off x="685800" y="1828800"/>
            <a:ext cx="2103120" cy="320040"/>
          </a:xfrm>
          <a:prstGeom prst="rect">
            <a:avLst/>
          </a:prstGeom>
          <a:noFill/>
          <a:ln/>
        </p:spPr>
        <p:txBody>
          <a:bodyPr wrap="square" lIns="0" tIns="0" rIns="0" bIns="0" rtlCol="0" anchor="ctr"/>
          <a:lstStyle/>
          <a:p>
            <a:pPr indent="0" marL="0">
              <a:buNone/>
            </a:pPr>
            <a:r>
              <a:rPr lang="en-US" sz="1600" b="1" dirty="0">
                <a:solidFill>
                  <a:schemeClr val="tx2"/>
                </a:solidFill>
              </a:rPr>
              <a:t>My properties</a:t>
            </a:r>
            <a:endParaRPr lang="en-US" sz="1600" dirty="0"/>
          </a:p>
        </p:txBody>
      </p:sp>
      <p:sp>
        <p:nvSpPr>
          <p:cNvPr id="6" name="Card 81"/>
          <p:cNvSpPr/>
          <p:nvPr/>
        </p:nvSpPr>
        <p:spPr>
          <a:xfrm>
            <a:off x="2926080" y="1847088"/>
            <a:ext cx="1417320" cy="301752"/>
          </a:xfrm>
          <a:prstGeom prst="roundRect">
            <a:avLst>
              <a:gd name="adj" fmla="val 48485"/>
            </a:avLst>
          </a:prstGeom>
          <a:solidFill>
            <a:schemeClr val="accent2"/>
          </a:solidFill>
          <a:ln/>
        </p:spPr>
      </p:sp>
      <p:sp>
        <p:nvSpPr>
          <p:cNvPr id="7" name="Text 82"/>
          <p:cNvSpPr txBox="1"/>
          <p:nvPr/>
        </p:nvSpPr>
        <p:spPr>
          <a:xfrm>
            <a:off x="2926080" y="1847088"/>
            <a:ext cx="1417320" cy="301752"/>
          </a:xfrm>
          <a:prstGeom prst="rect">
            <a:avLst/>
          </a:prstGeom>
          <a:noFill/>
          <a:ln/>
        </p:spPr>
        <p:txBody>
          <a:bodyPr wrap="square" lIns="0" tIns="0" rIns="0" bIns="0" rtlCol="0" anchor="ctr"/>
          <a:lstStyle/>
          <a:p>
            <a:pPr algn="ctr" indent="0" marL="0">
              <a:buNone/>
            </a:pPr>
            <a:r>
              <a:rPr lang="en-US" sz="1200" b="1" dirty="0">
                <a:solidFill>
                  <a:schemeClr val="tx1"/>
                </a:solidFill>
              </a:rPr>
              <a:t>+ Add property</a:t>
            </a:r>
            <a:endParaRPr lang="en-US" sz="1200" dirty="0"/>
          </a:p>
        </p:txBody>
      </p:sp>
      <p:sp>
        <p:nvSpPr>
          <p:cNvPr id="8" name="Card 83"/>
          <p:cNvSpPr/>
          <p:nvPr/>
        </p:nvSpPr>
        <p:spPr>
          <a:xfrm>
            <a:off x="594360" y="2286000"/>
            <a:ext cx="3749040" cy="594360"/>
          </a:xfrm>
          <a:prstGeom prst="roundRect">
            <a:avLst>
              <a:gd name="adj" fmla="val 18462"/>
            </a:avLst>
          </a:prstGeom>
          <a:solidFill>
            <a:schemeClr val="bg1"/>
          </a:solidFill>
          <a:ln/>
        </p:spPr>
      </p:sp>
      <p:sp>
        <p:nvSpPr>
          <p:cNvPr id="9" name="Icon circle 84"/>
          <p:cNvSpPr/>
          <p:nvPr/>
        </p:nvSpPr>
        <p:spPr>
          <a:xfrm>
            <a:off x="731520" y="2395728"/>
            <a:ext cx="384048" cy="384048"/>
          </a:xfrm>
          <a:prstGeom prst="ellipse">
            <a:avLst/>
          </a:prstGeom>
          <a:solidFill>
            <a:schemeClr val="tx2"/>
          </a:solidFill>
          <a:ln/>
        </p:spPr>
      </p:sp>
      <p:pic>
        <p:nvPicPr>
          <p:cNvPr id="10" name="Icon 85" descr="FaHome">    </p:cNvPr>
          <p:cNvPicPr>
            <a:picLocks noChangeAspect="1"/>
          </p:cNvPicPr>
          <p:nvPr/>
        </p:nvPicPr>
        <p:blipFill>
          <a:blip r:embed="rId1"/>
          <a:stretch>
            <a:fillRect/>
          </a:stretch>
        </p:blipFill>
        <p:spPr>
          <a:xfrm>
            <a:off x="827532" y="2491740"/>
            <a:ext cx="192024" cy="192024"/>
          </a:xfrm>
          <a:prstGeom prst="rect">
            <a:avLst/>
          </a:prstGeom>
        </p:spPr>
      </p:pic>
      <p:sp>
        <p:nvSpPr>
          <p:cNvPr id="11" name="Text 86"/>
          <p:cNvSpPr txBox="1"/>
          <p:nvPr/>
        </p:nvSpPr>
        <p:spPr>
          <a:xfrm>
            <a:off x="1234440" y="2286000"/>
            <a:ext cx="1783080" cy="594360"/>
          </a:xfrm>
          <a:prstGeom prst="rect">
            <a:avLst/>
          </a:prstGeom>
          <a:noFill/>
          <a:ln/>
        </p:spPr>
        <p:txBody>
          <a:bodyPr wrap="square" lIns="0" tIns="0" rIns="0" bIns="0" rtlCol="0" anchor="ctr"/>
          <a:lstStyle/>
          <a:p>
            <a:pPr indent="0" marL="0">
              <a:buNone/>
            </a:pPr>
            <a:r>
              <a:rPr lang="en-US" sz="1400" dirty="0">
                <a:solidFill>
                  <a:schemeClr val="tx1"/>
                </a:solidFill>
              </a:rPr>
              <a:t>Plot in Municipality A</a:t>
            </a:r>
            <a:endParaRPr lang="en-US" sz="1400" dirty="0"/>
          </a:p>
        </p:txBody>
      </p:sp>
      <p:sp>
        <p:nvSpPr>
          <p:cNvPr id="12" name="Card 87"/>
          <p:cNvSpPr/>
          <p:nvPr/>
        </p:nvSpPr>
        <p:spPr>
          <a:xfrm>
            <a:off x="3108960" y="2441448"/>
            <a:ext cx="1097280" cy="283464"/>
          </a:xfrm>
          <a:prstGeom prst="roundRect">
            <a:avLst>
              <a:gd name="adj" fmla="val 48387"/>
            </a:avLst>
          </a:prstGeom>
          <a:solidFill>
            <a:schemeClr val="accent1"/>
          </a:solidFill>
          <a:ln/>
        </p:spPr>
      </p:sp>
      <p:sp>
        <p:nvSpPr>
          <p:cNvPr id="13" name="Text 88"/>
          <p:cNvSpPr txBox="1"/>
          <p:nvPr/>
        </p:nvSpPr>
        <p:spPr>
          <a:xfrm>
            <a:off x="3108960" y="2441448"/>
            <a:ext cx="1097280" cy="283464"/>
          </a:xfrm>
          <a:prstGeom prst="rect">
            <a:avLst/>
          </a:prstGeom>
          <a:noFill/>
          <a:ln/>
        </p:spPr>
        <p:txBody>
          <a:bodyPr wrap="square" lIns="0" tIns="0" rIns="0" bIns="0" rtlCol="0" anchor="ctr"/>
          <a:lstStyle/>
          <a:p>
            <a:pPr algn="ctr" indent="0" marL="0">
              <a:buNone/>
            </a:pPr>
            <a:r>
              <a:rPr lang="en-US" sz="1200" b="1" dirty="0">
                <a:solidFill>
                  <a:schemeClr val="bg1"/>
                </a:solidFill>
              </a:rPr>
              <a:t>Verified</a:t>
            </a:r>
            <a:endParaRPr lang="en-US" sz="1200" dirty="0"/>
          </a:p>
        </p:txBody>
      </p:sp>
      <p:sp>
        <p:nvSpPr>
          <p:cNvPr id="14" name="Card 89"/>
          <p:cNvSpPr/>
          <p:nvPr/>
        </p:nvSpPr>
        <p:spPr>
          <a:xfrm>
            <a:off x="594360" y="3017520"/>
            <a:ext cx="3749040" cy="594360"/>
          </a:xfrm>
          <a:prstGeom prst="roundRect">
            <a:avLst>
              <a:gd name="adj" fmla="val 18462"/>
            </a:avLst>
          </a:prstGeom>
          <a:solidFill>
            <a:schemeClr val="bg1"/>
          </a:solidFill>
          <a:ln/>
        </p:spPr>
      </p:sp>
      <p:sp>
        <p:nvSpPr>
          <p:cNvPr id="15" name="Icon circle 90"/>
          <p:cNvSpPr/>
          <p:nvPr/>
        </p:nvSpPr>
        <p:spPr>
          <a:xfrm>
            <a:off x="731520" y="3127248"/>
            <a:ext cx="384048" cy="384048"/>
          </a:xfrm>
          <a:prstGeom prst="ellipse">
            <a:avLst/>
          </a:prstGeom>
          <a:solidFill>
            <a:schemeClr val="tx2"/>
          </a:solidFill>
          <a:ln/>
        </p:spPr>
      </p:sp>
      <p:pic>
        <p:nvPicPr>
          <p:cNvPr id="16" name="Icon 91" descr="FaHome">    </p:cNvPr>
          <p:cNvPicPr>
            <a:picLocks noChangeAspect="1"/>
          </p:cNvPicPr>
          <p:nvPr/>
        </p:nvPicPr>
        <p:blipFill>
          <a:blip r:embed="rId2"/>
          <a:stretch>
            <a:fillRect/>
          </a:stretch>
        </p:blipFill>
        <p:spPr>
          <a:xfrm>
            <a:off x="827532" y="3223260"/>
            <a:ext cx="192024" cy="192024"/>
          </a:xfrm>
          <a:prstGeom prst="rect">
            <a:avLst/>
          </a:prstGeom>
        </p:spPr>
      </p:pic>
      <p:sp>
        <p:nvSpPr>
          <p:cNvPr id="17" name="Text 92"/>
          <p:cNvSpPr txBox="1"/>
          <p:nvPr/>
        </p:nvSpPr>
        <p:spPr>
          <a:xfrm>
            <a:off x="1234440" y="3017520"/>
            <a:ext cx="1783080" cy="594360"/>
          </a:xfrm>
          <a:prstGeom prst="rect">
            <a:avLst/>
          </a:prstGeom>
          <a:noFill/>
          <a:ln/>
        </p:spPr>
        <p:txBody>
          <a:bodyPr wrap="square" lIns="0" tIns="0" rIns="0" bIns="0" rtlCol="0" anchor="ctr"/>
          <a:lstStyle/>
          <a:p>
            <a:pPr indent="0" marL="0">
              <a:buNone/>
            </a:pPr>
            <a:r>
              <a:rPr lang="en-US" sz="1400" dirty="0">
                <a:solidFill>
                  <a:schemeClr val="tx1"/>
                </a:solidFill>
              </a:rPr>
              <a:t>Plot in Municipality B</a:t>
            </a:r>
            <a:endParaRPr lang="en-US" sz="1400" dirty="0"/>
          </a:p>
        </p:txBody>
      </p:sp>
      <p:sp>
        <p:nvSpPr>
          <p:cNvPr id="18" name="Card 93"/>
          <p:cNvSpPr/>
          <p:nvPr/>
        </p:nvSpPr>
        <p:spPr>
          <a:xfrm>
            <a:off x="3108960" y="3172968"/>
            <a:ext cx="1097280" cy="283464"/>
          </a:xfrm>
          <a:prstGeom prst="roundRect">
            <a:avLst>
              <a:gd name="adj" fmla="val 48387"/>
            </a:avLst>
          </a:prstGeom>
          <a:solidFill>
            <a:schemeClr val="accent2"/>
          </a:solidFill>
          <a:ln/>
        </p:spPr>
      </p:sp>
      <p:sp>
        <p:nvSpPr>
          <p:cNvPr id="19" name="Text 94"/>
          <p:cNvSpPr txBox="1"/>
          <p:nvPr/>
        </p:nvSpPr>
        <p:spPr>
          <a:xfrm>
            <a:off x="3108960" y="3172968"/>
            <a:ext cx="1097280" cy="283464"/>
          </a:xfrm>
          <a:prstGeom prst="rect">
            <a:avLst/>
          </a:prstGeom>
          <a:noFill/>
          <a:ln/>
        </p:spPr>
        <p:txBody>
          <a:bodyPr wrap="square" lIns="0" tIns="0" rIns="0" bIns="0" rtlCol="0" anchor="ctr"/>
          <a:lstStyle/>
          <a:p>
            <a:pPr algn="ctr" indent="0" marL="0">
              <a:buNone/>
            </a:pPr>
            <a:r>
              <a:rPr lang="en-US" sz="1200" b="1" dirty="0">
                <a:solidFill>
                  <a:schemeClr val="tx1"/>
                </a:solidFill>
              </a:rPr>
              <a:t>Bill issued</a:t>
            </a:r>
            <a:endParaRPr lang="en-US" sz="1200" dirty="0"/>
          </a:p>
        </p:txBody>
      </p:sp>
      <p:sp>
        <p:nvSpPr>
          <p:cNvPr id="20" name="Card 95"/>
          <p:cNvSpPr/>
          <p:nvPr/>
        </p:nvSpPr>
        <p:spPr>
          <a:xfrm>
            <a:off x="594360" y="3749040"/>
            <a:ext cx="3749040" cy="594360"/>
          </a:xfrm>
          <a:prstGeom prst="roundRect">
            <a:avLst>
              <a:gd name="adj" fmla="val 18462"/>
            </a:avLst>
          </a:prstGeom>
          <a:solidFill>
            <a:schemeClr val="bg1"/>
          </a:solidFill>
          <a:ln/>
        </p:spPr>
      </p:sp>
      <p:sp>
        <p:nvSpPr>
          <p:cNvPr id="21" name="Icon circle 96"/>
          <p:cNvSpPr/>
          <p:nvPr/>
        </p:nvSpPr>
        <p:spPr>
          <a:xfrm>
            <a:off x="731520" y="3858768"/>
            <a:ext cx="384048" cy="384048"/>
          </a:xfrm>
          <a:prstGeom prst="ellipse">
            <a:avLst/>
          </a:prstGeom>
          <a:solidFill>
            <a:schemeClr val="tx2"/>
          </a:solidFill>
          <a:ln/>
        </p:spPr>
      </p:sp>
      <p:pic>
        <p:nvPicPr>
          <p:cNvPr id="22" name="Icon 97" descr="FaHome">    </p:cNvPr>
          <p:cNvPicPr>
            <a:picLocks noChangeAspect="1"/>
          </p:cNvPicPr>
          <p:nvPr/>
        </p:nvPicPr>
        <p:blipFill>
          <a:blip r:embed="rId3"/>
          <a:stretch>
            <a:fillRect/>
          </a:stretch>
        </p:blipFill>
        <p:spPr>
          <a:xfrm>
            <a:off x="827532" y="3954780"/>
            <a:ext cx="192024" cy="192024"/>
          </a:xfrm>
          <a:prstGeom prst="rect">
            <a:avLst/>
          </a:prstGeom>
        </p:spPr>
      </p:pic>
      <p:sp>
        <p:nvSpPr>
          <p:cNvPr id="23" name="Text 98"/>
          <p:cNvSpPr txBox="1"/>
          <p:nvPr/>
        </p:nvSpPr>
        <p:spPr>
          <a:xfrm>
            <a:off x="1234440" y="3749040"/>
            <a:ext cx="1783080" cy="594360"/>
          </a:xfrm>
          <a:prstGeom prst="rect">
            <a:avLst/>
          </a:prstGeom>
          <a:noFill/>
          <a:ln/>
        </p:spPr>
        <p:txBody>
          <a:bodyPr wrap="square" lIns="0" tIns="0" rIns="0" bIns="0" rtlCol="0" anchor="ctr"/>
          <a:lstStyle/>
          <a:p>
            <a:pPr indent="0" marL="0">
              <a:buNone/>
            </a:pPr>
            <a:r>
              <a:rPr lang="en-US" sz="1400" dirty="0">
                <a:solidFill>
                  <a:schemeClr val="tx1"/>
                </a:solidFill>
              </a:rPr>
              <a:t>Plot in Municipality C</a:t>
            </a:r>
            <a:endParaRPr lang="en-US" sz="1400" dirty="0"/>
          </a:p>
        </p:txBody>
      </p:sp>
      <p:sp>
        <p:nvSpPr>
          <p:cNvPr id="24" name="Card 99"/>
          <p:cNvSpPr/>
          <p:nvPr/>
        </p:nvSpPr>
        <p:spPr>
          <a:xfrm>
            <a:off x="3108960" y="3904488"/>
            <a:ext cx="1097280" cy="283464"/>
          </a:xfrm>
          <a:prstGeom prst="roundRect">
            <a:avLst>
              <a:gd name="adj" fmla="val 48387"/>
            </a:avLst>
          </a:prstGeom>
          <a:solidFill>
            <a:schemeClr val="accent4"/>
          </a:solidFill>
          <a:ln/>
        </p:spPr>
      </p:sp>
      <p:sp>
        <p:nvSpPr>
          <p:cNvPr id="25" name="Text 100"/>
          <p:cNvSpPr txBox="1"/>
          <p:nvPr/>
        </p:nvSpPr>
        <p:spPr>
          <a:xfrm>
            <a:off x="3108960" y="3904488"/>
            <a:ext cx="1097280" cy="283464"/>
          </a:xfrm>
          <a:prstGeom prst="rect">
            <a:avLst/>
          </a:prstGeom>
          <a:noFill/>
          <a:ln/>
        </p:spPr>
        <p:txBody>
          <a:bodyPr wrap="square" lIns="0" tIns="0" rIns="0" bIns="0" rtlCol="0" anchor="ctr"/>
          <a:lstStyle/>
          <a:p>
            <a:pPr algn="ctr" indent="0" marL="0">
              <a:buNone/>
            </a:pPr>
            <a:r>
              <a:rPr lang="en-US" sz="1200" b="1" dirty="0">
                <a:solidFill>
                  <a:schemeClr val="tx1"/>
                </a:solidFill>
              </a:rPr>
              <a:t>Paid</a:t>
            </a:r>
            <a:endParaRPr lang="en-US" sz="1200" dirty="0"/>
          </a:p>
        </p:txBody>
      </p:sp>
      <p:sp>
        <p:nvSpPr>
          <p:cNvPr id="26" name="Icon circle 101"/>
          <p:cNvSpPr/>
          <p:nvPr/>
        </p:nvSpPr>
        <p:spPr>
          <a:xfrm>
            <a:off x="4846320" y="1737360"/>
            <a:ext cx="548640" cy="548640"/>
          </a:xfrm>
          <a:prstGeom prst="ellipse">
            <a:avLst/>
          </a:prstGeom>
          <a:solidFill>
            <a:schemeClr val="accent1"/>
          </a:solidFill>
          <a:ln/>
        </p:spPr>
      </p:sp>
      <p:pic>
        <p:nvPicPr>
          <p:cNvPr id="27" name="Icon 102" descr="FaUser">    </p:cNvPr>
          <p:cNvPicPr>
            <a:picLocks noChangeAspect="1"/>
          </p:cNvPicPr>
          <p:nvPr/>
        </p:nvPicPr>
        <p:blipFill>
          <a:blip r:embed="rId4"/>
          <a:stretch>
            <a:fillRect/>
          </a:stretch>
        </p:blipFill>
        <p:spPr>
          <a:xfrm>
            <a:off x="4983480" y="1874520"/>
            <a:ext cx="274320" cy="274320"/>
          </a:xfrm>
          <a:prstGeom prst="rect">
            <a:avLst/>
          </a:prstGeom>
        </p:spPr>
      </p:pic>
      <p:sp>
        <p:nvSpPr>
          <p:cNvPr id="28" name="Text 103"/>
          <p:cNvSpPr txBox="1"/>
          <p:nvPr/>
        </p:nvSpPr>
        <p:spPr>
          <a:xfrm>
            <a:off x="5577840" y="1737360"/>
            <a:ext cx="3108960" cy="274320"/>
          </a:xfrm>
          <a:prstGeom prst="rect">
            <a:avLst/>
          </a:prstGeom>
          <a:noFill/>
          <a:ln/>
        </p:spPr>
        <p:txBody>
          <a:bodyPr wrap="square" lIns="0" tIns="0" rIns="0" bIns="0" rtlCol="0" anchor="t"/>
          <a:lstStyle/>
          <a:p>
            <a:pPr indent="0" marL="0">
              <a:buNone/>
            </a:pPr>
            <a:r>
              <a:rPr lang="en-US" sz="1600" b="1" dirty="0">
                <a:solidFill>
                  <a:schemeClr val="tx2"/>
                </a:solidFill>
              </a:rPr>
              <a:t>One account</a:t>
            </a:r>
            <a:endParaRPr lang="en-US" sz="1600" dirty="0"/>
          </a:p>
        </p:txBody>
      </p:sp>
      <p:sp>
        <p:nvSpPr>
          <p:cNvPr id="29" name="Text 104"/>
          <p:cNvSpPr txBox="1"/>
          <p:nvPr/>
        </p:nvSpPr>
        <p:spPr>
          <a:xfrm>
            <a:off x="5577840" y="2029968"/>
            <a:ext cx="3108960" cy="548640"/>
          </a:xfrm>
          <a:prstGeom prst="rect">
            <a:avLst/>
          </a:prstGeom>
          <a:noFill/>
          <a:ln/>
        </p:spPr>
        <p:txBody>
          <a:bodyPr wrap="square" lIns="0" tIns="0" rIns="0" bIns="0" rtlCol="0" anchor="t"/>
          <a:lstStyle/>
          <a:p>
            <a:pPr indent="0" marL="0">
              <a:buNone/>
            </a:pPr>
            <a:r>
              <a:rPr lang="en-US" sz="1400" dirty="0">
                <a:solidFill>
                  <a:schemeClr val="tx1"/>
                </a:solidFill>
              </a:rPr>
              <a:t>Sign in once and see every property you own.</a:t>
            </a:r>
            <a:endParaRPr lang="en-US" sz="1400" dirty="0"/>
          </a:p>
        </p:txBody>
      </p:sp>
      <p:sp>
        <p:nvSpPr>
          <p:cNvPr id="30" name="Icon circle 105"/>
          <p:cNvSpPr/>
          <p:nvPr/>
        </p:nvSpPr>
        <p:spPr>
          <a:xfrm>
            <a:off x="4846320" y="2697480"/>
            <a:ext cx="548640" cy="548640"/>
          </a:xfrm>
          <a:prstGeom prst="ellipse">
            <a:avLst/>
          </a:prstGeom>
          <a:solidFill>
            <a:schemeClr val="accent1"/>
          </a:solidFill>
          <a:ln/>
        </p:spPr>
      </p:sp>
      <p:pic>
        <p:nvPicPr>
          <p:cNvPr id="31" name="Icon 106" descr="FaMoneyBillWave">    </p:cNvPr>
          <p:cNvPicPr>
            <a:picLocks noChangeAspect="1"/>
          </p:cNvPicPr>
          <p:nvPr/>
        </p:nvPicPr>
        <p:blipFill>
          <a:blip r:embed="rId5"/>
          <a:stretch>
            <a:fillRect/>
          </a:stretch>
        </p:blipFill>
        <p:spPr>
          <a:xfrm>
            <a:off x="4983480" y="2834640"/>
            <a:ext cx="274320" cy="274320"/>
          </a:xfrm>
          <a:prstGeom prst="rect">
            <a:avLst/>
          </a:prstGeom>
        </p:spPr>
      </p:pic>
      <p:sp>
        <p:nvSpPr>
          <p:cNvPr id="32" name="Text 107"/>
          <p:cNvSpPr txBox="1"/>
          <p:nvPr/>
        </p:nvSpPr>
        <p:spPr>
          <a:xfrm>
            <a:off x="5577840" y="2697480"/>
            <a:ext cx="3108960" cy="274320"/>
          </a:xfrm>
          <a:prstGeom prst="rect">
            <a:avLst/>
          </a:prstGeom>
          <a:noFill/>
          <a:ln/>
        </p:spPr>
        <p:txBody>
          <a:bodyPr wrap="square" lIns="0" tIns="0" rIns="0" bIns="0" rtlCol="0" anchor="t"/>
          <a:lstStyle/>
          <a:p>
            <a:pPr indent="0" marL="0">
              <a:buNone/>
            </a:pPr>
            <a:r>
              <a:rPr lang="en-US" sz="1600" b="1" dirty="0">
                <a:solidFill>
                  <a:schemeClr val="tx2"/>
                </a:solidFill>
              </a:rPr>
              <a:t>One place to pay</a:t>
            </a:r>
            <a:endParaRPr lang="en-US" sz="1600" dirty="0"/>
          </a:p>
        </p:txBody>
      </p:sp>
      <p:sp>
        <p:nvSpPr>
          <p:cNvPr id="33" name="Text 108"/>
          <p:cNvSpPr txBox="1"/>
          <p:nvPr/>
        </p:nvSpPr>
        <p:spPr>
          <a:xfrm>
            <a:off x="5577840" y="2990088"/>
            <a:ext cx="3108960" cy="548640"/>
          </a:xfrm>
          <a:prstGeom prst="rect">
            <a:avLst/>
          </a:prstGeom>
          <a:noFill/>
          <a:ln/>
        </p:spPr>
        <p:txBody>
          <a:bodyPr wrap="square" lIns="0" tIns="0" rIns="0" bIns="0" rtlCol="0" anchor="t"/>
          <a:lstStyle/>
          <a:p>
            <a:pPr indent="0" marL="0">
              <a:buNone/>
            </a:pPr>
            <a:r>
              <a:rPr lang="en-US" sz="1400" dirty="0">
                <a:solidFill>
                  <a:schemeClr val="tx1"/>
                </a:solidFill>
              </a:rPr>
              <a:t>Pay any bill, in any municipality, through any channel.</a:t>
            </a:r>
            <a:endParaRPr lang="en-US" sz="1400" dirty="0"/>
          </a:p>
        </p:txBody>
      </p:sp>
      <p:sp>
        <p:nvSpPr>
          <p:cNvPr id="34" name="Icon circle 109"/>
          <p:cNvSpPr/>
          <p:nvPr/>
        </p:nvSpPr>
        <p:spPr>
          <a:xfrm>
            <a:off x="4846320" y="3657600"/>
            <a:ext cx="548640" cy="548640"/>
          </a:xfrm>
          <a:prstGeom prst="ellipse">
            <a:avLst/>
          </a:prstGeom>
          <a:solidFill>
            <a:schemeClr val="accent1"/>
          </a:solidFill>
          <a:ln/>
        </p:spPr>
      </p:sp>
      <p:pic>
        <p:nvPicPr>
          <p:cNvPr id="35" name="Icon 110" descr="FaMapMarkedAlt">    </p:cNvPr>
          <p:cNvPicPr>
            <a:picLocks noChangeAspect="1"/>
          </p:cNvPicPr>
          <p:nvPr/>
        </p:nvPicPr>
        <p:blipFill>
          <a:blip r:embed="rId6"/>
          <a:stretch>
            <a:fillRect/>
          </a:stretch>
        </p:blipFill>
        <p:spPr>
          <a:xfrm>
            <a:off x="4983480" y="3794760"/>
            <a:ext cx="274320" cy="274320"/>
          </a:xfrm>
          <a:prstGeom prst="rect">
            <a:avLst/>
          </a:prstGeom>
        </p:spPr>
      </p:pic>
      <p:sp>
        <p:nvSpPr>
          <p:cNvPr id="36" name="Text 111"/>
          <p:cNvSpPr txBox="1"/>
          <p:nvPr/>
        </p:nvSpPr>
        <p:spPr>
          <a:xfrm>
            <a:off x="5577840" y="3657600"/>
            <a:ext cx="3108960" cy="274320"/>
          </a:xfrm>
          <a:prstGeom prst="rect">
            <a:avLst/>
          </a:prstGeom>
          <a:noFill/>
          <a:ln/>
        </p:spPr>
        <p:txBody>
          <a:bodyPr wrap="square" lIns="0" tIns="0" rIns="0" bIns="0" rtlCol="0" anchor="t"/>
          <a:lstStyle/>
          <a:p>
            <a:pPr indent="0" marL="0">
              <a:buNone/>
            </a:pPr>
            <a:r>
              <a:rPr lang="en-US" sz="1600" b="1" dirty="0">
                <a:solidFill>
                  <a:schemeClr val="tx2"/>
                </a:solidFill>
              </a:rPr>
              <a:t>Add a property</a:t>
            </a:r>
            <a:endParaRPr lang="en-US" sz="1600" dirty="0"/>
          </a:p>
        </p:txBody>
      </p:sp>
      <p:sp>
        <p:nvSpPr>
          <p:cNvPr id="37" name="Text 112"/>
          <p:cNvSpPr txBox="1"/>
          <p:nvPr/>
        </p:nvSpPr>
        <p:spPr>
          <a:xfrm>
            <a:off x="5577840" y="3950208"/>
            <a:ext cx="3108960" cy="548640"/>
          </a:xfrm>
          <a:prstGeom prst="rect">
            <a:avLst/>
          </a:prstGeom>
          <a:noFill/>
          <a:ln/>
        </p:spPr>
        <p:txBody>
          <a:bodyPr wrap="square" lIns="0" tIns="0" rIns="0" bIns="0" rtlCol="0" anchor="t"/>
          <a:lstStyle/>
          <a:p>
            <a:pPr indent="0" marL="0">
              <a:buNone/>
            </a:pPr>
            <a:r>
              <a:rPr lang="en-US" sz="1400" dirty="0">
                <a:solidFill>
                  <a:schemeClr val="tx1"/>
                </a:solidFill>
              </a:rPr>
              <a:t>Submit one in the app and track it from request to approved.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Payments that match themselves</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Every payment is made against a bill ID that CROIP already holds.</a:t>
            </a:r>
            <a:endParaRPr lang="en-US" sz="1600" dirty="0"/>
          </a:p>
        </p:txBody>
      </p:sp>
      <p:sp>
        <p:nvSpPr>
          <p:cNvPr id="4" name="Card 113"/>
          <p:cNvSpPr/>
          <p:nvPr/>
        </p:nvSpPr>
        <p:spPr>
          <a:xfrm>
            <a:off x="457200" y="1691640"/>
            <a:ext cx="1463040" cy="1783080"/>
          </a:xfrm>
          <a:prstGeom prst="roundRect">
            <a:avLst>
              <a:gd name="adj" fmla="val 7500"/>
            </a:avLst>
          </a:prstGeom>
          <a:solidFill>
            <a:schemeClr val="bg2"/>
          </a:solidFill>
          <a:ln/>
        </p:spPr>
      </p:sp>
      <p:sp>
        <p:nvSpPr>
          <p:cNvPr id="5" name="Step number 114"/>
          <p:cNvSpPr/>
          <p:nvPr/>
        </p:nvSpPr>
        <p:spPr>
          <a:xfrm>
            <a:off x="594360" y="1828800"/>
            <a:ext cx="384048" cy="384048"/>
          </a:xfrm>
          <a:prstGeom prst="ellipse">
            <a:avLst/>
          </a:prstGeom>
          <a:solidFill>
            <a:schemeClr val="accent1"/>
          </a:solidFill>
          <a:ln/>
        </p:spPr>
      </p:sp>
      <p:sp>
        <p:nvSpPr>
          <p:cNvPr id="6" name="Text 115"/>
          <p:cNvSpPr txBox="1"/>
          <p:nvPr/>
        </p:nvSpPr>
        <p:spPr>
          <a:xfrm>
            <a:off x="59436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116"/>
          <p:cNvSpPr txBox="1"/>
          <p:nvPr/>
        </p:nvSpPr>
        <p:spPr>
          <a:xfrm>
            <a:off x="594360" y="2331720"/>
            <a:ext cx="1234440" cy="502920"/>
          </a:xfrm>
          <a:prstGeom prst="rect">
            <a:avLst/>
          </a:prstGeom>
          <a:noFill/>
          <a:ln/>
        </p:spPr>
        <p:txBody>
          <a:bodyPr wrap="square" lIns="0" tIns="0" rIns="0" bIns="0" rtlCol="0" anchor="t"/>
          <a:lstStyle/>
          <a:p>
            <a:pPr indent="0" marL="0">
              <a:buNone/>
            </a:pPr>
            <a:r>
              <a:rPr lang="en-US" sz="1400" b="1" dirty="0">
                <a:solidFill>
                  <a:schemeClr val="tx2"/>
                </a:solidFill>
              </a:rPr>
              <a:t>Bill requested</a:t>
            </a:r>
            <a:endParaRPr lang="en-US" sz="1400" dirty="0"/>
          </a:p>
        </p:txBody>
      </p:sp>
      <p:sp>
        <p:nvSpPr>
          <p:cNvPr id="8" name="Text 117"/>
          <p:cNvSpPr txBox="1"/>
          <p:nvPr/>
        </p:nvSpPr>
        <p:spPr>
          <a:xfrm>
            <a:off x="594360" y="2788920"/>
            <a:ext cx="1234440" cy="640080"/>
          </a:xfrm>
          <a:prstGeom prst="rect">
            <a:avLst/>
          </a:prstGeom>
          <a:noFill/>
          <a:ln/>
        </p:spPr>
        <p:txBody>
          <a:bodyPr wrap="square" lIns="0" tIns="0" rIns="0" bIns="0" rtlCol="0" anchor="t"/>
          <a:lstStyle/>
          <a:p>
            <a:pPr indent="0" marL="0">
              <a:buNone/>
            </a:pPr>
            <a:r>
              <a:rPr lang="en-US" sz="1200" dirty="0">
                <a:solidFill>
                  <a:schemeClr val="tx1"/>
                </a:solidFill>
              </a:rPr>
              <a:t>CROIP calculates the amount</a:t>
            </a:r>
            <a:endParaRPr lang="en-US" sz="1200" dirty="0"/>
          </a:p>
        </p:txBody>
      </p:sp>
      <p:sp>
        <p:nvSpPr>
          <p:cNvPr id="9" name="Connector 118"/>
          <p:cNvSpPr/>
          <p:nvPr/>
        </p:nvSpPr>
        <p:spPr>
          <a:xfrm>
            <a:off x="1920240" y="2578608"/>
            <a:ext cx="228600" cy="0"/>
          </a:xfrm>
          <a:prstGeom prst="line">
            <a:avLst/>
          </a:prstGeom>
          <a:noFill/>
          <a:ln w="19050">
            <a:solidFill>
              <a:schemeClr val="accent6"/>
            </a:solidFill>
            <a:prstDash val="solid"/>
            <a:tailEnd type="triangle"/>
          </a:ln>
        </p:spPr>
      </p:sp>
      <p:sp>
        <p:nvSpPr>
          <p:cNvPr id="10" name="Card 119"/>
          <p:cNvSpPr/>
          <p:nvPr/>
        </p:nvSpPr>
        <p:spPr>
          <a:xfrm>
            <a:off x="2148840" y="1691640"/>
            <a:ext cx="1463040" cy="1783080"/>
          </a:xfrm>
          <a:prstGeom prst="roundRect">
            <a:avLst>
              <a:gd name="adj" fmla="val 7500"/>
            </a:avLst>
          </a:prstGeom>
          <a:solidFill>
            <a:schemeClr val="bg2"/>
          </a:solidFill>
          <a:ln/>
        </p:spPr>
      </p:sp>
      <p:sp>
        <p:nvSpPr>
          <p:cNvPr id="11" name="Step number 120"/>
          <p:cNvSpPr/>
          <p:nvPr/>
        </p:nvSpPr>
        <p:spPr>
          <a:xfrm>
            <a:off x="2286000" y="1828800"/>
            <a:ext cx="384048" cy="384048"/>
          </a:xfrm>
          <a:prstGeom prst="ellipse">
            <a:avLst/>
          </a:prstGeom>
          <a:solidFill>
            <a:schemeClr val="accent1"/>
          </a:solidFill>
          <a:ln/>
        </p:spPr>
      </p:sp>
      <p:sp>
        <p:nvSpPr>
          <p:cNvPr id="12" name="Text 121"/>
          <p:cNvSpPr txBox="1"/>
          <p:nvPr/>
        </p:nvSpPr>
        <p:spPr>
          <a:xfrm>
            <a:off x="228600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22"/>
          <p:cNvSpPr txBox="1"/>
          <p:nvPr/>
        </p:nvSpPr>
        <p:spPr>
          <a:xfrm>
            <a:off x="2286000" y="2331720"/>
            <a:ext cx="1234440" cy="502920"/>
          </a:xfrm>
          <a:prstGeom prst="rect">
            <a:avLst/>
          </a:prstGeom>
          <a:noFill/>
          <a:ln/>
        </p:spPr>
        <p:txBody>
          <a:bodyPr wrap="square" lIns="0" tIns="0" rIns="0" bIns="0" rtlCol="0" anchor="t"/>
          <a:lstStyle/>
          <a:p>
            <a:pPr indent="0" marL="0">
              <a:buNone/>
            </a:pPr>
            <a:r>
              <a:rPr lang="en-US" sz="1400" b="1" dirty="0">
                <a:solidFill>
                  <a:schemeClr val="tx2"/>
                </a:solidFill>
              </a:rPr>
              <a:t>Bill issued</a:t>
            </a:r>
            <a:endParaRPr lang="en-US" sz="1400" dirty="0"/>
          </a:p>
        </p:txBody>
      </p:sp>
      <p:sp>
        <p:nvSpPr>
          <p:cNvPr id="14" name="Text 123"/>
          <p:cNvSpPr txBox="1"/>
          <p:nvPr/>
        </p:nvSpPr>
        <p:spPr>
          <a:xfrm>
            <a:off x="2286000" y="2788920"/>
            <a:ext cx="1234440" cy="640080"/>
          </a:xfrm>
          <a:prstGeom prst="rect">
            <a:avLst/>
          </a:prstGeom>
          <a:noFill/>
          <a:ln/>
        </p:spPr>
        <p:txBody>
          <a:bodyPr wrap="square" lIns="0" tIns="0" rIns="0" bIns="0" rtlCol="0" anchor="t"/>
          <a:lstStyle/>
          <a:p>
            <a:pPr indent="0" marL="0">
              <a:buNone/>
            </a:pPr>
            <a:r>
              <a:rPr lang="en-US" sz="1200" dirty="0">
                <a:solidFill>
                  <a:schemeClr val="tx1"/>
                </a:solidFill>
              </a:rPr>
              <a:t>The bill ID is registered in CROIP</a:t>
            </a:r>
            <a:endParaRPr lang="en-US" sz="1200" dirty="0"/>
          </a:p>
        </p:txBody>
      </p:sp>
      <p:sp>
        <p:nvSpPr>
          <p:cNvPr id="15" name="Connector 124"/>
          <p:cNvSpPr/>
          <p:nvPr/>
        </p:nvSpPr>
        <p:spPr>
          <a:xfrm>
            <a:off x="3611880" y="2578608"/>
            <a:ext cx="228600" cy="0"/>
          </a:xfrm>
          <a:prstGeom prst="line">
            <a:avLst/>
          </a:prstGeom>
          <a:noFill/>
          <a:ln w="19050">
            <a:solidFill>
              <a:schemeClr val="accent6"/>
            </a:solidFill>
            <a:prstDash val="solid"/>
            <a:tailEnd type="triangle"/>
          </a:ln>
        </p:spPr>
      </p:sp>
      <p:sp>
        <p:nvSpPr>
          <p:cNvPr id="16" name="Card 125"/>
          <p:cNvSpPr/>
          <p:nvPr/>
        </p:nvSpPr>
        <p:spPr>
          <a:xfrm>
            <a:off x="3840480" y="1691640"/>
            <a:ext cx="1463040" cy="1783080"/>
          </a:xfrm>
          <a:prstGeom prst="roundRect">
            <a:avLst>
              <a:gd name="adj" fmla="val 7500"/>
            </a:avLst>
          </a:prstGeom>
          <a:solidFill>
            <a:schemeClr val="bg2"/>
          </a:solidFill>
          <a:ln/>
        </p:spPr>
      </p:sp>
      <p:sp>
        <p:nvSpPr>
          <p:cNvPr id="17" name="Step number 126"/>
          <p:cNvSpPr/>
          <p:nvPr/>
        </p:nvSpPr>
        <p:spPr>
          <a:xfrm>
            <a:off x="3977640" y="1828800"/>
            <a:ext cx="384048" cy="384048"/>
          </a:xfrm>
          <a:prstGeom prst="ellipse">
            <a:avLst/>
          </a:prstGeom>
          <a:solidFill>
            <a:schemeClr val="accent1"/>
          </a:solidFill>
          <a:ln/>
        </p:spPr>
      </p:sp>
      <p:sp>
        <p:nvSpPr>
          <p:cNvPr id="18" name="Text 127"/>
          <p:cNvSpPr txBox="1"/>
          <p:nvPr/>
        </p:nvSpPr>
        <p:spPr>
          <a:xfrm>
            <a:off x="397764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28"/>
          <p:cNvSpPr txBox="1"/>
          <p:nvPr/>
        </p:nvSpPr>
        <p:spPr>
          <a:xfrm>
            <a:off x="3977640" y="2331720"/>
            <a:ext cx="1234440" cy="502920"/>
          </a:xfrm>
          <a:prstGeom prst="rect">
            <a:avLst/>
          </a:prstGeom>
          <a:noFill/>
          <a:ln/>
        </p:spPr>
        <p:txBody>
          <a:bodyPr wrap="square" lIns="0" tIns="0" rIns="0" bIns="0" rtlCol="0" anchor="t"/>
          <a:lstStyle/>
          <a:p>
            <a:pPr indent="0" marL="0">
              <a:buNone/>
            </a:pPr>
            <a:r>
              <a:rPr lang="en-US" sz="1400" b="1" dirty="0">
                <a:solidFill>
                  <a:schemeClr val="tx2"/>
                </a:solidFill>
              </a:rPr>
              <a:t>Ratepayer pays</a:t>
            </a:r>
            <a:endParaRPr lang="en-US" sz="1400" dirty="0"/>
          </a:p>
        </p:txBody>
      </p:sp>
      <p:sp>
        <p:nvSpPr>
          <p:cNvPr id="20" name="Text 129"/>
          <p:cNvSpPr txBox="1"/>
          <p:nvPr/>
        </p:nvSpPr>
        <p:spPr>
          <a:xfrm>
            <a:off x="3977640" y="2788920"/>
            <a:ext cx="1234440" cy="640080"/>
          </a:xfrm>
          <a:prstGeom prst="rect">
            <a:avLst/>
          </a:prstGeom>
          <a:noFill/>
          <a:ln/>
        </p:spPr>
        <p:txBody>
          <a:bodyPr wrap="square" lIns="0" tIns="0" rIns="0" bIns="0" rtlCol="0" anchor="t"/>
          <a:lstStyle/>
          <a:p>
            <a:pPr indent="0" marL="0">
              <a:buNone/>
            </a:pPr>
            <a:r>
              <a:rPr lang="en-US" sz="1200" dirty="0">
                <a:solidFill>
                  <a:schemeClr val="tx1"/>
                </a:solidFill>
              </a:rPr>
              <a:t>In the app, through any channel</a:t>
            </a:r>
            <a:endParaRPr lang="en-US" sz="1200" dirty="0"/>
          </a:p>
        </p:txBody>
      </p:sp>
      <p:sp>
        <p:nvSpPr>
          <p:cNvPr id="21" name="Connector 130"/>
          <p:cNvSpPr/>
          <p:nvPr/>
        </p:nvSpPr>
        <p:spPr>
          <a:xfrm>
            <a:off x="5303520" y="2578608"/>
            <a:ext cx="228600" cy="0"/>
          </a:xfrm>
          <a:prstGeom prst="line">
            <a:avLst/>
          </a:prstGeom>
          <a:noFill/>
          <a:ln w="19050">
            <a:solidFill>
              <a:schemeClr val="accent6"/>
            </a:solidFill>
            <a:prstDash val="solid"/>
            <a:tailEnd type="triangle"/>
          </a:ln>
        </p:spPr>
      </p:sp>
      <p:sp>
        <p:nvSpPr>
          <p:cNvPr id="22" name="Card 131"/>
          <p:cNvSpPr/>
          <p:nvPr/>
        </p:nvSpPr>
        <p:spPr>
          <a:xfrm>
            <a:off x="5532120" y="1691640"/>
            <a:ext cx="1463040" cy="1783080"/>
          </a:xfrm>
          <a:prstGeom prst="roundRect">
            <a:avLst>
              <a:gd name="adj" fmla="val 7500"/>
            </a:avLst>
          </a:prstGeom>
          <a:solidFill>
            <a:schemeClr val="bg2"/>
          </a:solidFill>
          <a:ln/>
        </p:spPr>
      </p:sp>
      <p:sp>
        <p:nvSpPr>
          <p:cNvPr id="23" name="Step number 132"/>
          <p:cNvSpPr/>
          <p:nvPr/>
        </p:nvSpPr>
        <p:spPr>
          <a:xfrm>
            <a:off x="5669280" y="1828800"/>
            <a:ext cx="384048" cy="384048"/>
          </a:xfrm>
          <a:prstGeom prst="ellipse">
            <a:avLst/>
          </a:prstGeom>
          <a:solidFill>
            <a:schemeClr val="accent1"/>
          </a:solidFill>
          <a:ln/>
        </p:spPr>
      </p:sp>
      <p:sp>
        <p:nvSpPr>
          <p:cNvPr id="24" name="Text 133"/>
          <p:cNvSpPr txBox="1"/>
          <p:nvPr/>
        </p:nvSpPr>
        <p:spPr>
          <a:xfrm>
            <a:off x="566928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134"/>
          <p:cNvSpPr txBox="1"/>
          <p:nvPr/>
        </p:nvSpPr>
        <p:spPr>
          <a:xfrm>
            <a:off x="5669280" y="2331720"/>
            <a:ext cx="1234440" cy="502920"/>
          </a:xfrm>
          <a:prstGeom prst="rect">
            <a:avLst/>
          </a:prstGeom>
          <a:noFill/>
          <a:ln/>
        </p:spPr>
        <p:txBody>
          <a:bodyPr wrap="square" lIns="0" tIns="0" rIns="0" bIns="0" rtlCol="0" anchor="t"/>
          <a:lstStyle/>
          <a:p>
            <a:pPr indent="0" marL="0">
              <a:buNone/>
            </a:pPr>
            <a:r>
              <a:rPr lang="en-US" sz="1400" b="1" dirty="0">
                <a:solidFill>
                  <a:schemeClr val="tx2"/>
                </a:solidFill>
              </a:rPr>
              <a:t>Payment logged</a:t>
            </a:r>
            <a:endParaRPr lang="en-US" sz="1400" dirty="0"/>
          </a:p>
        </p:txBody>
      </p:sp>
      <p:sp>
        <p:nvSpPr>
          <p:cNvPr id="26" name="Text 135"/>
          <p:cNvSpPr txBox="1"/>
          <p:nvPr/>
        </p:nvSpPr>
        <p:spPr>
          <a:xfrm>
            <a:off x="5669280" y="2788920"/>
            <a:ext cx="1234440" cy="640080"/>
          </a:xfrm>
          <a:prstGeom prst="rect">
            <a:avLst/>
          </a:prstGeom>
          <a:noFill/>
          <a:ln/>
        </p:spPr>
        <p:txBody>
          <a:bodyPr wrap="square" lIns="0" tIns="0" rIns="0" bIns="0" rtlCol="0" anchor="t"/>
          <a:lstStyle/>
          <a:p>
            <a:pPr indent="0" marL="0">
              <a:buNone/>
            </a:pPr>
            <a:r>
              <a:rPr lang="en-US" sz="1200" dirty="0">
                <a:solidFill>
                  <a:schemeClr val="tx1"/>
                </a:solidFill>
              </a:rPr>
              <a:t>CROIP records it with the bank platform</a:t>
            </a:r>
            <a:endParaRPr lang="en-US" sz="1200" dirty="0"/>
          </a:p>
        </p:txBody>
      </p:sp>
      <p:sp>
        <p:nvSpPr>
          <p:cNvPr id="27" name="Connector 136"/>
          <p:cNvSpPr/>
          <p:nvPr/>
        </p:nvSpPr>
        <p:spPr>
          <a:xfrm>
            <a:off x="6995160" y="2578608"/>
            <a:ext cx="228600" cy="0"/>
          </a:xfrm>
          <a:prstGeom prst="line">
            <a:avLst/>
          </a:prstGeom>
          <a:noFill/>
          <a:ln w="19050">
            <a:solidFill>
              <a:schemeClr val="accent6"/>
            </a:solidFill>
            <a:prstDash val="solid"/>
            <a:tailEnd type="triangle"/>
          </a:ln>
        </p:spPr>
      </p:sp>
      <p:sp>
        <p:nvSpPr>
          <p:cNvPr id="28" name="Card 137"/>
          <p:cNvSpPr/>
          <p:nvPr/>
        </p:nvSpPr>
        <p:spPr>
          <a:xfrm>
            <a:off x="7223760" y="1691640"/>
            <a:ext cx="1463040" cy="1783080"/>
          </a:xfrm>
          <a:prstGeom prst="roundRect">
            <a:avLst>
              <a:gd name="adj" fmla="val 7500"/>
            </a:avLst>
          </a:prstGeom>
          <a:solidFill>
            <a:schemeClr val="bg2"/>
          </a:solidFill>
          <a:ln/>
        </p:spPr>
      </p:sp>
      <p:sp>
        <p:nvSpPr>
          <p:cNvPr id="29" name="Step number 138"/>
          <p:cNvSpPr/>
          <p:nvPr/>
        </p:nvSpPr>
        <p:spPr>
          <a:xfrm>
            <a:off x="7360920" y="1828800"/>
            <a:ext cx="384048" cy="384048"/>
          </a:xfrm>
          <a:prstGeom prst="ellipse">
            <a:avLst/>
          </a:prstGeom>
          <a:solidFill>
            <a:schemeClr val="accent1"/>
          </a:solidFill>
          <a:ln/>
        </p:spPr>
      </p:sp>
      <p:sp>
        <p:nvSpPr>
          <p:cNvPr id="30" name="Text 139"/>
          <p:cNvSpPr txBox="1"/>
          <p:nvPr/>
        </p:nvSpPr>
        <p:spPr>
          <a:xfrm>
            <a:off x="736092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140"/>
          <p:cNvSpPr txBox="1"/>
          <p:nvPr/>
        </p:nvSpPr>
        <p:spPr>
          <a:xfrm>
            <a:off x="7360920" y="2331720"/>
            <a:ext cx="1234440" cy="502920"/>
          </a:xfrm>
          <a:prstGeom prst="rect">
            <a:avLst/>
          </a:prstGeom>
          <a:noFill/>
          <a:ln/>
        </p:spPr>
        <p:txBody>
          <a:bodyPr wrap="square" lIns="0" tIns="0" rIns="0" bIns="0" rtlCol="0" anchor="t"/>
          <a:lstStyle/>
          <a:p>
            <a:pPr indent="0" marL="0">
              <a:buNone/>
            </a:pPr>
            <a:r>
              <a:rPr lang="en-US" sz="1400" b="1" dirty="0">
                <a:solidFill>
                  <a:schemeClr val="tx2"/>
                </a:solidFill>
              </a:rPr>
              <a:t>Concessionaire told</a:t>
            </a:r>
            <a:endParaRPr lang="en-US" sz="1400" dirty="0"/>
          </a:p>
        </p:txBody>
      </p:sp>
      <p:sp>
        <p:nvSpPr>
          <p:cNvPr id="32" name="Text 141"/>
          <p:cNvSpPr txBox="1"/>
          <p:nvPr/>
        </p:nvSpPr>
        <p:spPr>
          <a:xfrm>
            <a:off x="7360920" y="2788920"/>
            <a:ext cx="1234440" cy="640080"/>
          </a:xfrm>
          <a:prstGeom prst="rect">
            <a:avLst/>
          </a:prstGeom>
          <a:noFill/>
          <a:ln/>
        </p:spPr>
        <p:txBody>
          <a:bodyPr wrap="square" lIns="0" tIns="0" rIns="0" bIns="0" rtlCol="0" anchor="t"/>
          <a:lstStyle/>
          <a:p>
            <a:pPr indent="0" marL="0">
              <a:buNone/>
            </a:pPr>
            <a:r>
              <a:rPr lang="en-US" sz="1200" dirty="0">
                <a:solidFill>
                  <a:schemeClr val="tx1"/>
                </a:solidFill>
              </a:rPr>
              <a:t>An event confirms the bill is paid</a:t>
            </a:r>
            <a:endParaRPr lang="en-US" sz="1200" dirty="0"/>
          </a:p>
        </p:txBody>
      </p:sp>
      <p:sp>
        <p:nvSpPr>
          <p:cNvPr id="33" name="Card 142"/>
          <p:cNvSpPr/>
          <p:nvPr/>
        </p:nvSpPr>
        <p:spPr>
          <a:xfrm>
            <a:off x="457200" y="3749040"/>
            <a:ext cx="8229600" cy="777240"/>
          </a:xfrm>
          <a:prstGeom prst="roundRect">
            <a:avLst>
              <a:gd name="adj" fmla="val 14118"/>
            </a:avLst>
          </a:prstGeom>
          <a:solidFill>
            <a:schemeClr val="tx2"/>
          </a:solidFill>
          <a:ln/>
        </p:spPr>
      </p:sp>
      <p:sp>
        <p:nvSpPr>
          <p:cNvPr id="34" name="Text 143"/>
          <p:cNvSpPr txBox="1"/>
          <p:nvPr/>
        </p:nvSpPr>
        <p:spPr>
          <a:xfrm>
            <a:off x="685800" y="3749040"/>
            <a:ext cx="7772400" cy="777240"/>
          </a:xfrm>
          <a:prstGeom prst="rect">
            <a:avLst/>
          </a:prstGeom>
          <a:noFill/>
          <a:ln/>
        </p:spPr>
        <p:txBody>
          <a:bodyPr wrap="square" lIns="0" tIns="0" rIns="0" bIns="0" rtlCol="0" anchor="ctr"/>
          <a:lstStyle/>
          <a:p>
            <a:pPr indent="0" marL="0">
              <a:buNone/>
            </a:pPr>
            <a:r>
              <a:rPr lang="en-US" sz="1400" b="1" dirty="0">
                <a:solidFill>
                  <a:schemeClr val="accent2"/>
                </a:solidFill>
              </a:rPr>
              <a:t>The result: </a:t>
            </a:r>
            <a:pPr indent="0" marL="0">
              <a:buNone/>
            </a:pPr>
            <a:r>
              <a:rPr lang="en-US" sz="1400" dirty="0">
                <a:solidFill>
                  <a:schemeClr val="bg1"/>
                </a:solidFill>
              </a:rPr>
              <a:t>reconciliation means matching a payment to a bill ID CROIP already holds, not detective work across separate systems.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Bills calculated, not typed</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CROIP works out each bill from the property record and the rate card.</a:t>
            </a:r>
            <a:endParaRPr lang="en-US" sz="1600" dirty="0"/>
          </a:p>
        </p:txBody>
      </p:sp>
      <p:sp>
        <p:nvSpPr>
          <p:cNvPr id="4" name="Card 144"/>
          <p:cNvSpPr/>
          <p:nvPr/>
        </p:nvSpPr>
        <p:spPr>
          <a:xfrm>
            <a:off x="457200" y="1691640"/>
            <a:ext cx="2560320" cy="685800"/>
          </a:xfrm>
          <a:prstGeom prst="roundRect">
            <a:avLst>
              <a:gd name="adj" fmla="val 16000"/>
            </a:avLst>
          </a:prstGeom>
          <a:solidFill>
            <a:schemeClr val="bg2"/>
          </a:solidFill>
          <a:ln/>
        </p:spPr>
      </p:sp>
      <p:sp>
        <p:nvSpPr>
          <p:cNvPr id="5" name="Text 145"/>
          <p:cNvSpPr txBox="1"/>
          <p:nvPr/>
        </p:nvSpPr>
        <p:spPr>
          <a:xfrm>
            <a:off x="640080" y="1783080"/>
            <a:ext cx="2286000" cy="256032"/>
          </a:xfrm>
          <a:prstGeom prst="rect">
            <a:avLst/>
          </a:prstGeom>
          <a:noFill/>
          <a:ln/>
        </p:spPr>
        <p:txBody>
          <a:bodyPr wrap="square" lIns="0" tIns="0" rIns="0" bIns="0" rtlCol="0" anchor="t"/>
          <a:lstStyle/>
          <a:p>
            <a:pPr indent="0" marL="0">
              <a:buNone/>
            </a:pPr>
            <a:r>
              <a:rPr lang="en-US" sz="1400" b="1" dirty="0">
                <a:solidFill>
                  <a:schemeClr val="tx2"/>
                </a:solidFill>
              </a:rPr>
              <a:t>Property record</a:t>
            </a:r>
            <a:endParaRPr lang="en-US" sz="1400" dirty="0"/>
          </a:p>
        </p:txBody>
      </p:sp>
      <p:sp>
        <p:nvSpPr>
          <p:cNvPr id="6" name="Text 146"/>
          <p:cNvSpPr txBox="1"/>
          <p:nvPr/>
        </p:nvSpPr>
        <p:spPr>
          <a:xfrm>
            <a:off x="640080" y="2075688"/>
            <a:ext cx="2286000" cy="228600"/>
          </a:xfrm>
          <a:prstGeom prst="rect">
            <a:avLst/>
          </a:prstGeom>
          <a:noFill/>
          <a:ln/>
        </p:spPr>
        <p:txBody>
          <a:bodyPr wrap="square" lIns="0" tIns="0" rIns="0" bIns="0" rtlCol="0" anchor="t"/>
          <a:lstStyle/>
          <a:p>
            <a:pPr indent="0" marL="0">
              <a:buNone/>
            </a:pPr>
            <a:r>
              <a:rPr lang="en-US" sz="1200" dirty="0">
                <a:solidFill>
                  <a:schemeClr val="accent6"/>
                </a:solidFill>
              </a:rPr>
              <a:t>class, usage, status, storeys</a:t>
            </a:r>
            <a:endParaRPr lang="en-US" sz="1200" dirty="0"/>
          </a:p>
        </p:txBody>
      </p:sp>
      <p:sp>
        <p:nvSpPr>
          <p:cNvPr id="7" name="Card 147"/>
          <p:cNvSpPr/>
          <p:nvPr/>
        </p:nvSpPr>
        <p:spPr>
          <a:xfrm>
            <a:off x="457200" y="2514600"/>
            <a:ext cx="2560320" cy="685800"/>
          </a:xfrm>
          <a:prstGeom prst="roundRect">
            <a:avLst>
              <a:gd name="adj" fmla="val 16000"/>
            </a:avLst>
          </a:prstGeom>
          <a:solidFill>
            <a:schemeClr val="bg2"/>
          </a:solidFill>
          <a:ln/>
        </p:spPr>
      </p:sp>
      <p:sp>
        <p:nvSpPr>
          <p:cNvPr id="8" name="Text 148"/>
          <p:cNvSpPr txBox="1"/>
          <p:nvPr/>
        </p:nvSpPr>
        <p:spPr>
          <a:xfrm>
            <a:off x="640080" y="2606040"/>
            <a:ext cx="2286000" cy="256032"/>
          </a:xfrm>
          <a:prstGeom prst="rect">
            <a:avLst/>
          </a:prstGeom>
          <a:noFill/>
          <a:ln/>
        </p:spPr>
        <p:txBody>
          <a:bodyPr wrap="square" lIns="0" tIns="0" rIns="0" bIns="0" rtlCol="0" anchor="t"/>
          <a:lstStyle/>
          <a:p>
            <a:pPr indent="0" marL="0">
              <a:buNone/>
            </a:pPr>
            <a:r>
              <a:rPr lang="en-US" sz="1400" b="1" dirty="0">
                <a:solidFill>
                  <a:schemeClr val="tx2"/>
                </a:solidFill>
              </a:rPr>
              <a:t>Municipality rate card</a:t>
            </a:r>
            <a:endParaRPr lang="en-US" sz="1400" dirty="0"/>
          </a:p>
        </p:txBody>
      </p:sp>
      <p:sp>
        <p:nvSpPr>
          <p:cNvPr id="9" name="Text 149"/>
          <p:cNvSpPr txBox="1"/>
          <p:nvPr/>
        </p:nvSpPr>
        <p:spPr>
          <a:xfrm>
            <a:off x="640080" y="2898648"/>
            <a:ext cx="2286000" cy="228600"/>
          </a:xfrm>
          <a:prstGeom prst="rect">
            <a:avLst/>
          </a:prstGeom>
          <a:noFill/>
          <a:ln/>
        </p:spPr>
        <p:txBody>
          <a:bodyPr wrap="square" lIns="0" tIns="0" rIns="0" bIns="0" rtlCol="0" anchor="t"/>
          <a:lstStyle/>
          <a:p>
            <a:pPr indent="0" marL="0">
              <a:buNone/>
            </a:pPr>
            <a:r>
              <a:rPr lang="en-US" sz="1200" dirty="0">
                <a:solidFill>
                  <a:schemeClr val="accent6"/>
                </a:solidFill>
              </a:rPr>
              <a:t>versioned by year</a:t>
            </a:r>
            <a:endParaRPr lang="en-US" sz="1200" dirty="0"/>
          </a:p>
        </p:txBody>
      </p:sp>
      <p:sp>
        <p:nvSpPr>
          <p:cNvPr id="10" name="Card 150"/>
          <p:cNvSpPr/>
          <p:nvPr/>
        </p:nvSpPr>
        <p:spPr>
          <a:xfrm>
            <a:off x="457200" y="3337560"/>
            <a:ext cx="2560320" cy="685800"/>
          </a:xfrm>
          <a:prstGeom prst="roundRect">
            <a:avLst>
              <a:gd name="adj" fmla="val 16000"/>
            </a:avLst>
          </a:prstGeom>
          <a:solidFill>
            <a:schemeClr val="bg2"/>
          </a:solidFill>
          <a:ln/>
        </p:spPr>
      </p:sp>
      <p:sp>
        <p:nvSpPr>
          <p:cNvPr id="11" name="Text 151"/>
          <p:cNvSpPr txBox="1"/>
          <p:nvPr/>
        </p:nvSpPr>
        <p:spPr>
          <a:xfrm>
            <a:off x="640080" y="3429000"/>
            <a:ext cx="2286000" cy="256032"/>
          </a:xfrm>
          <a:prstGeom prst="rect">
            <a:avLst/>
          </a:prstGeom>
          <a:noFill/>
          <a:ln/>
        </p:spPr>
        <p:txBody>
          <a:bodyPr wrap="square" lIns="0" tIns="0" rIns="0" bIns="0" rtlCol="0" anchor="t"/>
          <a:lstStyle/>
          <a:p>
            <a:pPr indent="0" marL="0">
              <a:buNone/>
            </a:pPr>
            <a:r>
              <a:rPr lang="en-US" sz="1400" b="1" dirty="0">
                <a:solidFill>
                  <a:schemeClr val="tx2"/>
                </a:solidFill>
              </a:rPr>
              <a:t>LVD rateable value</a:t>
            </a:r>
            <a:endParaRPr lang="en-US" sz="1400" dirty="0"/>
          </a:p>
        </p:txBody>
      </p:sp>
      <p:sp>
        <p:nvSpPr>
          <p:cNvPr id="12" name="Text 152"/>
          <p:cNvSpPr txBox="1"/>
          <p:nvPr/>
        </p:nvSpPr>
        <p:spPr>
          <a:xfrm>
            <a:off x="640080" y="3721608"/>
            <a:ext cx="2286000" cy="228600"/>
          </a:xfrm>
          <a:prstGeom prst="rect">
            <a:avLst/>
          </a:prstGeom>
          <a:noFill/>
          <a:ln/>
        </p:spPr>
        <p:txBody>
          <a:bodyPr wrap="square" lIns="0" tIns="0" rIns="0" bIns="0" rtlCol="0" anchor="t"/>
          <a:lstStyle/>
          <a:p>
            <a:pPr indent="0" marL="0">
              <a:buNone/>
            </a:pPr>
            <a:r>
              <a:rPr lang="en-US" sz="1200" dirty="0">
                <a:solidFill>
                  <a:schemeClr val="accent6"/>
                </a:solidFill>
              </a:rPr>
              <a:t>when the property is assessed</a:t>
            </a:r>
            <a:endParaRPr lang="en-US" sz="1200" dirty="0"/>
          </a:p>
        </p:txBody>
      </p:sp>
      <p:sp>
        <p:nvSpPr>
          <p:cNvPr id="13" name="Connector 153"/>
          <p:cNvSpPr/>
          <p:nvPr/>
        </p:nvSpPr>
        <p:spPr>
          <a:xfrm>
            <a:off x="3017520" y="2034540"/>
            <a:ext cx="640080" cy="822960"/>
          </a:xfrm>
          <a:prstGeom prst="line">
            <a:avLst/>
          </a:prstGeom>
          <a:noFill/>
          <a:ln w="19050">
            <a:solidFill>
              <a:schemeClr val="accent6"/>
            </a:solidFill>
            <a:prstDash val="solid"/>
            <a:tailEnd type="triangle"/>
          </a:ln>
        </p:spPr>
      </p:sp>
      <p:sp>
        <p:nvSpPr>
          <p:cNvPr id="14" name="Connector 154"/>
          <p:cNvSpPr/>
          <p:nvPr/>
        </p:nvSpPr>
        <p:spPr>
          <a:xfrm>
            <a:off x="3017520" y="2857500"/>
            <a:ext cx="640080" cy="0"/>
          </a:xfrm>
          <a:prstGeom prst="line">
            <a:avLst/>
          </a:prstGeom>
          <a:noFill/>
          <a:ln w="19050">
            <a:solidFill>
              <a:schemeClr val="accent6"/>
            </a:solidFill>
            <a:prstDash val="solid"/>
            <a:tailEnd type="triangle"/>
          </a:ln>
        </p:spPr>
      </p:sp>
      <p:sp>
        <p:nvSpPr>
          <p:cNvPr id="15" name="Connector 155"/>
          <p:cNvSpPr/>
          <p:nvPr/>
        </p:nvSpPr>
        <p:spPr>
          <a:xfrm flipV="1">
            <a:off x="3017520" y="2857500"/>
            <a:ext cx="640080" cy="822960"/>
          </a:xfrm>
          <a:prstGeom prst="line">
            <a:avLst/>
          </a:prstGeom>
          <a:noFill/>
          <a:ln w="19050">
            <a:solidFill>
              <a:schemeClr val="accent6"/>
            </a:solidFill>
            <a:prstDash val="solid"/>
            <a:tailEnd type="triangle"/>
          </a:ln>
        </p:spPr>
      </p:sp>
      <p:sp>
        <p:nvSpPr>
          <p:cNvPr id="16" name="Card 156"/>
          <p:cNvSpPr/>
          <p:nvPr/>
        </p:nvSpPr>
        <p:spPr>
          <a:xfrm>
            <a:off x="3657600" y="2171700"/>
            <a:ext cx="1737360" cy="1371600"/>
          </a:xfrm>
          <a:prstGeom prst="roundRect">
            <a:avLst>
              <a:gd name="adj" fmla="val 8000"/>
            </a:avLst>
          </a:prstGeom>
          <a:solidFill>
            <a:schemeClr val="tx2"/>
          </a:solidFill>
          <a:ln/>
        </p:spPr>
      </p:sp>
      <p:sp>
        <p:nvSpPr>
          <p:cNvPr id="17" name="Icon circle 157"/>
          <p:cNvSpPr/>
          <p:nvPr/>
        </p:nvSpPr>
        <p:spPr>
          <a:xfrm>
            <a:off x="4251960" y="2286000"/>
            <a:ext cx="548640" cy="548640"/>
          </a:xfrm>
          <a:prstGeom prst="ellipse">
            <a:avLst/>
          </a:prstGeom>
          <a:solidFill>
            <a:schemeClr val="accent2"/>
          </a:solidFill>
          <a:ln/>
        </p:spPr>
      </p:sp>
      <p:pic>
        <p:nvPicPr>
          <p:cNvPr id="18" name="Icon 158" descr="FaCalculator">    </p:cNvPr>
          <p:cNvPicPr>
            <a:picLocks noChangeAspect="1"/>
          </p:cNvPicPr>
          <p:nvPr/>
        </p:nvPicPr>
        <p:blipFill>
          <a:blip r:embed="rId1"/>
          <a:stretch>
            <a:fillRect/>
          </a:stretch>
        </p:blipFill>
        <p:spPr>
          <a:xfrm>
            <a:off x="4389120" y="2423160"/>
            <a:ext cx="274320" cy="274320"/>
          </a:xfrm>
          <a:prstGeom prst="rect">
            <a:avLst/>
          </a:prstGeom>
        </p:spPr>
      </p:pic>
      <p:sp>
        <p:nvSpPr>
          <p:cNvPr id="19" name="Text 159"/>
          <p:cNvSpPr txBox="1"/>
          <p:nvPr/>
        </p:nvSpPr>
        <p:spPr>
          <a:xfrm>
            <a:off x="3657600" y="2926080"/>
            <a:ext cx="1737360" cy="274320"/>
          </a:xfrm>
          <a:prstGeom prst="rect">
            <a:avLst/>
          </a:prstGeom>
          <a:noFill/>
          <a:ln/>
        </p:spPr>
        <p:txBody>
          <a:bodyPr wrap="square" lIns="0" tIns="0" rIns="0" bIns="0" rtlCol="0" anchor="t"/>
          <a:lstStyle/>
          <a:p>
            <a:pPr algn="ctr" indent="0" marL="0">
              <a:buNone/>
            </a:pPr>
            <a:r>
              <a:rPr lang="en-US" sz="1400" b="1" dirty="0">
                <a:solidFill>
                  <a:schemeClr val="bg1"/>
                </a:solidFill>
              </a:rPr>
              <a:t>CROIP calculator</a:t>
            </a:r>
            <a:endParaRPr lang="en-US" sz="1400" dirty="0"/>
          </a:p>
        </p:txBody>
      </p:sp>
      <p:sp>
        <p:nvSpPr>
          <p:cNvPr id="20" name="Text 160"/>
          <p:cNvSpPr txBox="1"/>
          <p:nvPr/>
        </p:nvSpPr>
        <p:spPr>
          <a:xfrm>
            <a:off x="3657600" y="3200400"/>
            <a:ext cx="1737360" cy="228600"/>
          </a:xfrm>
          <a:prstGeom prst="rect">
            <a:avLst/>
          </a:prstGeom>
          <a:noFill/>
          <a:ln/>
        </p:spPr>
        <p:txBody>
          <a:bodyPr wrap="square" lIns="0" tIns="0" rIns="0" bIns="0" rtlCol="0" anchor="t"/>
          <a:lstStyle/>
          <a:p>
            <a:pPr algn="ctr" indent="0" marL="0">
              <a:buNone/>
            </a:pPr>
            <a:r>
              <a:rPr lang="en-US" sz="1200" dirty="0">
                <a:solidFill>
                  <a:schemeClr val="accent4"/>
                </a:solidFill>
              </a:rPr>
              <a:t>applies the rules</a:t>
            </a:r>
            <a:endParaRPr lang="en-US" sz="1200" dirty="0"/>
          </a:p>
        </p:txBody>
      </p:sp>
      <p:sp>
        <p:nvSpPr>
          <p:cNvPr id="21" name="Connector 161"/>
          <p:cNvSpPr/>
          <p:nvPr/>
        </p:nvSpPr>
        <p:spPr>
          <a:xfrm>
            <a:off x="5394960" y="2857500"/>
            <a:ext cx="548640" cy="0"/>
          </a:xfrm>
          <a:prstGeom prst="line">
            <a:avLst/>
          </a:prstGeom>
          <a:noFill/>
          <a:ln w="19050">
            <a:solidFill>
              <a:schemeClr val="accent6"/>
            </a:solidFill>
            <a:prstDash val="solid"/>
            <a:tailEnd type="triangle"/>
          </a:ln>
        </p:spPr>
      </p:sp>
      <p:sp>
        <p:nvSpPr>
          <p:cNvPr id="22" name="Card 162"/>
          <p:cNvSpPr/>
          <p:nvPr/>
        </p:nvSpPr>
        <p:spPr>
          <a:xfrm>
            <a:off x="5943600" y="2286000"/>
            <a:ext cx="2743200" cy="1143000"/>
          </a:xfrm>
          <a:prstGeom prst="roundRect">
            <a:avLst>
              <a:gd name="adj" fmla="val 9600"/>
            </a:avLst>
          </a:prstGeom>
          <a:solidFill>
            <a:schemeClr val="bg2"/>
          </a:solidFill>
          <a:ln/>
        </p:spPr>
      </p:sp>
      <p:sp>
        <p:nvSpPr>
          <p:cNvPr id="23" name="Icon circle 163"/>
          <p:cNvSpPr/>
          <p:nvPr/>
        </p:nvSpPr>
        <p:spPr>
          <a:xfrm>
            <a:off x="6126480" y="2423160"/>
            <a:ext cx="457200" cy="457200"/>
          </a:xfrm>
          <a:prstGeom prst="ellipse">
            <a:avLst/>
          </a:prstGeom>
          <a:solidFill>
            <a:schemeClr val="accent1"/>
          </a:solidFill>
          <a:ln/>
        </p:spPr>
      </p:sp>
      <p:pic>
        <p:nvPicPr>
          <p:cNvPr id="24" name="Icon 164" descr="FaFileInvoice">    </p:cNvPr>
          <p:cNvPicPr>
            <a:picLocks noChangeAspect="1"/>
          </p:cNvPicPr>
          <p:nvPr/>
        </p:nvPicPr>
        <p:blipFill>
          <a:blip r:embed="rId2"/>
          <a:stretch>
            <a:fillRect/>
          </a:stretch>
        </p:blipFill>
        <p:spPr>
          <a:xfrm>
            <a:off x="6240780" y="2537460"/>
            <a:ext cx="228600" cy="228600"/>
          </a:xfrm>
          <a:prstGeom prst="rect">
            <a:avLst/>
          </a:prstGeom>
        </p:spPr>
      </p:pic>
      <p:sp>
        <p:nvSpPr>
          <p:cNvPr id="25" name="Text 165"/>
          <p:cNvSpPr txBox="1"/>
          <p:nvPr/>
        </p:nvSpPr>
        <p:spPr>
          <a:xfrm>
            <a:off x="6720840" y="2423160"/>
            <a:ext cx="1828800" cy="457200"/>
          </a:xfrm>
          <a:prstGeom prst="rect">
            <a:avLst/>
          </a:prstGeom>
          <a:noFill/>
          <a:ln/>
        </p:spPr>
        <p:txBody>
          <a:bodyPr wrap="square" lIns="0" tIns="0" rIns="0" bIns="0" rtlCol="0" anchor="ctr"/>
          <a:lstStyle/>
          <a:p>
            <a:pPr indent="0" marL="0">
              <a:buNone/>
            </a:pPr>
            <a:r>
              <a:rPr lang="en-US" sz="1600" b="1" dirty="0">
                <a:solidFill>
                  <a:schemeClr val="tx2"/>
                </a:solidFill>
              </a:rPr>
              <a:t>Bill amount</a:t>
            </a:r>
            <a:endParaRPr lang="en-US" sz="1600" dirty="0"/>
          </a:p>
        </p:txBody>
      </p:sp>
      <p:sp>
        <p:nvSpPr>
          <p:cNvPr id="26" name="Text 166"/>
          <p:cNvSpPr txBox="1"/>
          <p:nvPr/>
        </p:nvSpPr>
        <p:spPr>
          <a:xfrm>
            <a:off x="6126480" y="3017520"/>
            <a:ext cx="2423160" cy="365760"/>
          </a:xfrm>
          <a:prstGeom prst="rect">
            <a:avLst/>
          </a:prstGeom>
          <a:noFill/>
          <a:ln/>
        </p:spPr>
        <p:txBody>
          <a:bodyPr wrap="square" lIns="0" tIns="0" rIns="0" bIns="0" rtlCol="0" anchor="t"/>
          <a:lstStyle/>
          <a:p>
            <a:pPr indent="0" marL="0">
              <a:buNone/>
            </a:pPr>
            <a:r>
              <a:rPr lang="en-US" sz="1200" dirty="0">
                <a:solidFill>
                  <a:schemeClr val="tx1"/>
                </a:solidFill>
              </a:rPr>
              <a:t>Records which rate-card version was used.</a:t>
            </a:r>
            <a:endParaRPr lang="en-US" sz="1200" dirty="0"/>
          </a:p>
        </p:txBody>
      </p:sp>
      <p:sp>
        <p:nvSpPr>
          <p:cNvPr id="27" name="Text 167"/>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400" dirty="0">
                <a:solidFill>
                  <a:schemeClr val="tx1"/>
                </a:solidFill>
              </a:rPr>
              <a:t>Assessed: rateable value x rate. Unassessed: flat provisional rate by class and use.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Property data you can trust</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Properties enter from either side, and every one is verified before going live.</a:t>
            </a:r>
            <a:endParaRPr lang="en-US" sz="1600" dirty="0"/>
          </a:p>
        </p:txBody>
      </p:sp>
      <p:sp>
        <p:nvSpPr>
          <p:cNvPr id="4" name="Card 168"/>
          <p:cNvSpPr/>
          <p:nvPr/>
        </p:nvSpPr>
        <p:spPr>
          <a:xfrm>
            <a:off x="457200" y="1645920"/>
            <a:ext cx="2560320" cy="1783080"/>
          </a:xfrm>
          <a:prstGeom prst="roundRect">
            <a:avLst>
              <a:gd name="adj" fmla="val 6154"/>
            </a:avLst>
          </a:prstGeom>
          <a:solidFill>
            <a:schemeClr val="bg2"/>
          </a:solidFill>
          <a:ln/>
        </p:spPr>
      </p:sp>
      <p:sp>
        <p:nvSpPr>
          <p:cNvPr id="5" name="Text 169"/>
          <p:cNvSpPr txBox="1"/>
          <p:nvPr/>
        </p:nvSpPr>
        <p:spPr>
          <a:xfrm>
            <a:off x="640080" y="1737360"/>
            <a:ext cx="21945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4+</a:t>
            </a:r>
            <a:endParaRPr lang="en-US" sz="4800" dirty="0"/>
          </a:p>
        </p:txBody>
      </p:sp>
      <p:sp>
        <p:nvSpPr>
          <p:cNvPr id="6" name="Text 170"/>
          <p:cNvSpPr txBox="1"/>
          <p:nvPr/>
        </p:nvSpPr>
        <p:spPr>
          <a:xfrm>
            <a:off x="640080" y="2560320"/>
            <a:ext cx="2194560" cy="777240"/>
          </a:xfrm>
          <a:prstGeom prst="rect">
            <a:avLst/>
          </a:prstGeom>
          <a:noFill/>
          <a:ln/>
        </p:spPr>
        <p:txBody>
          <a:bodyPr wrap="square" lIns="0" tIns="0" rIns="0" bIns="0" rtlCol="0" anchor="t"/>
          <a:lstStyle/>
          <a:p>
            <a:pPr indent="0" marL="0">
              <a:buNone/>
            </a:pPr>
            <a:r>
              <a:rPr lang="en-US" sz="1400" dirty="0">
                <a:solidFill>
                  <a:schemeClr val="tx1"/>
                </a:solidFill>
              </a:rPr>
              <a:t>boundary points per property: a polygon, not a pin</a:t>
            </a:r>
            <a:endParaRPr lang="en-US" sz="1400" dirty="0"/>
          </a:p>
        </p:txBody>
      </p:sp>
      <p:sp>
        <p:nvSpPr>
          <p:cNvPr id="7" name="Card 171"/>
          <p:cNvSpPr/>
          <p:nvPr/>
        </p:nvSpPr>
        <p:spPr>
          <a:xfrm>
            <a:off x="3291840" y="1645920"/>
            <a:ext cx="2560320" cy="1783080"/>
          </a:xfrm>
          <a:prstGeom prst="roundRect">
            <a:avLst>
              <a:gd name="adj" fmla="val 6154"/>
            </a:avLst>
          </a:prstGeom>
          <a:solidFill>
            <a:schemeClr val="bg2"/>
          </a:solidFill>
          <a:ln/>
        </p:spPr>
      </p:sp>
      <p:sp>
        <p:nvSpPr>
          <p:cNvPr id="8" name="Text 172"/>
          <p:cNvSpPr txBox="1"/>
          <p:nvPr/>
        </p:nvSpPr>
        <p:spPr>
          <a:xfrm>
            <a:off x="3474720" y="1737360"/>
            <a:ext cx="21945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9" name="Text 173"/>
          <p:cNvSpPr txBox="1"/>
          <p:nvPr/>
        </p:nvSpPr>
        <p:spPr>
          <a:xfrm>
            <a:off x="3474720" y="2560320"/>
            <a:ext cx="2194560" cy="777240"/>
          </a:xfrm>
          <a:prstGeom prst="rect">
            <a:avLst/>
          </a:prstGeom>
          <a:noFill/>
          <a:ln/>
        </p:spPr>
        <p:txBody>
          <a:bodyPr wrap="square" lIns="0" tIns="0" rIns="0" bIns="0" rtlCol="0" anchor="t"/>
          <a:lstStyle/>
          <a:p>
            <a:pPr indent="0" marL="0">
              <a:buNone/>
            </a:pPr>
            <a:r>
              <a:rPr lang="en-US" sz="1400" dirty="0">
                <a:solidFill>
                  <a:schemeClr val="tx1"/>
                </a:solidFill>
              </a:rPr>
              <a:t>agent assigned to each property, with no overlap</a:t>
            </a:r>
            <a:endParaRPr lang="en-US" sz="1400" dirty="0"/>
          </a:p>
        </p:txBody>
      </p:sp>
      <p:sp>
        <p:nvSpPr>
          <p:cNvPr id="10" name="Card 174"/>
          <p:cNvSpPr/>
          <p:nvPr/>
        </p:nvSpPr>
        <p:spPr>
          <a:xfrm>
            <a:off x="6126480" y="1645920"/>
            <a:ext cx="2560320" cy="1783080"/>
          </a:xfrm>
          <a:prstGeom prst="roundRect">
            <a:avLst>
              <a:gd name="adj" fmla="val 6154"/>
            </a:avLst>
          </a:prstGeom>
          <a:solidFill>
            <a:schemeClr val="bg2"/>
          </a:solidFill>
          <a:ln/>
        </p:spPr>
      </p:sp>
      <p:sp>
        <p:nvSpPr>
          <p:cNvPr id="11" name="Text 175"/>
          <p:cNvSpPr txBox="1"/>
          <p:nvPr/>
        </p:nvSpPr>
        <p:spPr>
          <a:xfrm>
            <a:off x="6309360" y="1737360"/>
            <a:ext cx="21945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100%</a:t>
            </a:r>
            <a:endParaRPr lang="en-US" sz="4800" dirty="0"/>
          </a:p>
        </p:txBody>
      </p:sp>
      <p:sp>
        <p:nvSpPr>
          <p:cNvPr id="12" name="Text 176"/>
          <p:cNvSpPr txBox="1"/>
          <p:nvPr/>
        </p:nvSpPr>
        <p:spPr>
          <a:xfrm>
            <a:off x="6309360" y="2560320"/>
            <a:ext cx="2194560" cy="777240"/>
          </a:xfrm>
          <a:prstGeom prst="rect">
            <a:avLst/>
          </a:prstGeom>
          <a:noFill/>
          <a:ln/>
        </p:spPr>
        <p:txBody>
          <a:bodyPr wrap="square" lIns="0" tIns="0" rIns="0" bIns="0" rtlCol="0" anchor="t"/>
          <a:lstStyle/>
          <a:p>
            <a:pPr indent="0" marL="0">
              <a:buNone/>
            </a:pPr>
            <a:r>
              <a:rPr lang="en-US" sz="1400" dirty="0">
                <a:solidFill>
                  <a:schemeClr val="tx1"/>
                </a:solidFill>
              </a:rPr>
              <a:t>of submissions reviewed by office staff before going live</a:t>
            </a:r>
            <a:endParaRPr lang="en-US" sz="1400" dirty="0"/>
          </a:p>
        </p:txBody>
      </p:sp>
      <p:sp>
        <p:nvSpPr>
          <p:cNvPr id="13" name="Card 177"/>
          <p:cNvSpPr/>
          <p:nvPr/>
        </p:nvSpPr>
        <p:spPr>
          <a:xfrm>
            <a:off x="457200" y="3703320"/>
            <a:ext cx="1234440" cy="411480"/>
          </a:xfrm>
          <a:prstGeom prst="roundRect">
            <a:avLst>
              <a:gd name="adj" fmla="val 44444"/>
            </a:avLst>
          </a:prstGeom>
          <a:solidFill>
            <a:schemeClr val="tx2"/>
          </a:solidFill>
          <a:ln/>
        </p:spPr>
      </p:sp>
      <p:sp>
        <p:nvSpPr>
          <p:cNvPr id="14" name="Text 178"/>
          <p:cNvSpPr txBox="1"/>
          <p:nvPr/>
        </p:nvSpPr>
        <p:spPr>
          <a:xfrm>
            <a:off x="457200" y="3703320"/>
            <a:ext cx="1234440" cy="411480"/>
          </a:xfrm>
          <a:prstGeom prst="rect">
            <a:avLst/>
          </a:prstGeom>
          <a:noFill/>
          <a:ln/>
        </p:spPr>
        <p:txBody>
          <a:bodyPr wrap="square" lIns="0" tIns="0" rIns="0" bIns="0" rtlCol="0" anchor="ctr"/>
          <a:lstStyle/>
          <a:p>
            <a:pPr algn="ctr" indent="0" marL="0">
              <a:buNone/>
            </a:pPr>
            <a:r>
              <a:rPr lang="en-US" sz="1200" b="1" dirty="0">
                <a:solidFill>
                  <a:schemeClr val="bg1"/>
                </a:solidFill>
              </a:rPr>
              <a:t>Submitted</a:t>
            </a:r>
            <a:endParaRPr lang="en-US" sz="1200" dirty="0"/>
          </a:p>
        </p:txBody>
      </p:sp>
      <p:sp>
        <p:nvSpPr>
          <p:cNvPr id="15" name="Connector 179"/>
          <p:cNvSpPr/>
          <p:nvPr/>
        </p:nvSpPr>
        <p:spPr>
          <a:xfrm>
            <a:off x="1691640" y="3909060"/>
            <a:ext cx="164592" cy="0"/>
          </a:xfrm>
          <a:prstGeom prst="line">
            <a:avLst/>
          </a:prstGeom>
          <a:noFill/>
          <a:ln w="19050">
            <a:solidFill>
              <a:schemeClr val="accent6"/>
            </a:solidFill>
            <a:prstDash val="solid"/>
            <a:tailEnd type="triangle"/>
          </a:ln>
        </p:spPr>
      </p:sp>
      <p:sp>
        <p:nvSpPr>
          <p:cNvPr id="16" name="Card 180"/>
          <p:cNvSpPr/>
          <p:nvPr/>
        </p:nvSpPr>
        <p:spPr>
          <a:xfrm>
            <a:off x="1856232" y="3703320"/>
            <a:ext cx="1234440" cy="411480"/>
          </a:xfrm>
          <a:prstGeom prst="roundRect">
            <a:avLst>
              <a:gd name="adj" fmla="val 44444"/>
            </a:avLst>
          </a:prstGeom>
          <a:solidFill>
            <a:schemeClr val="tx2"/>
          </a:solidFill>
          <a:ln/>
        </p:spPr>
      </p:sp>
      <p:sp>
        <p:nvSpPr>
          <p:cNvPr id="17" name="Text 181"/>
          <p:cNvSpPr txBox="1"/>
          <p:nvPr/>
        </p:nvSpPr>
        <p:spPr>
          <a:xfrm>
            <a:off x="1856232" y="3703320"/>
            <a:ext cx="1234440" cy="411480"/>
          </a:xfrm>
          <a:prstGeom prst="rect">
            <a:avLst/>
          </a:prstGeom>
          <a:noFill/>
          <a:ln/>
        </p:spPr>
        <p:txBody>
          <a:bodyPr wrap="square" lIns="0" tIns="0" rIns="0" bIns="0" rtlCol="0" anchor="ctr"/>
          <a:lstStyle/>
          <a:p>
            <a:pPr algn="ctr" indent="0" marL="0">
              <a:buNone/>
            </a:pPr>
            <a:r>
              <a:rPr lang="en-US" sz="1200" b="1" dirty="0">
                <a:solidFill>
                  <a:schemeClr val="bg1"/>
                </a:solidFill>
              </a:rPr>
              <a:t>Assigned</a:t>
            </a:r>
            <a:endParaRPr lang="en-US" sz="1200" dirty="0"/>
          </a:p>
        </p:txBody>
      </p:sp>
      <p:sp>
        <p:nvSpPr>
          <p:cNvPr id="18" name="Connector 182"/>
          <p:cNvSpPr/>
          <p:nvPr/>
        </p:nvSpPr>
        <p:spPr>
          <a:xfrm>
            <a:off x="3090672" y="3909060"/>
            <a:ext cx="164592" cy="0"/>
          </a:xfrm>
          <a:prstGeom prst="line">
            <a:avLst/>
          </a:prstGeom>
          <a:noFill/>
          <a:ln w="19050">
            <a:solidFill>
              <a:schemeClr val="accent6"/>
            </a:solidFill>
            <a:prstDash val="solid"/>
            <a:tailEnd type="triangle"/>
          </a:ln>
        </p:spPr>
      </p:sp>
      <p:sp>
        <p:nvSpPr>
          <p:cNvPr id="19" name="Card 183"/>
          <p:cNvSpPr/>
          <p:nvPr/>
        </p:nvSpPr>
        <p:spPr>
          <a:xfrm>
            <a:off x="3255264" y="3703320"/>
            <a:ext cx="1234440" cy="411480"/>
          </a:xfrm>
          <a:prstGeom prst="roundRect">
            <a:avLst>
              <a:gd name="adj" fmla="val 44444"/>
            </a:avLst>
          </a:prstGeom>
          <a:solidFill>
            <a:schemeClr val="tx2"/>
          </a:solidFill>
          <a:ln/>
        </p:spPr>
      </p:sp>
      <p:sp>
        <p:nvSpPr>
          <p:cNvPr id="20" name="Text 184"/>
          <p:cNvSpPr txBox="1"/>
          <p:nvPr/>
        </p:nvSpPr>
        <p:spPr>
          <a:xfrm>
            <a:off x="3255264" y="3703320"/>
            <a:ext cx="1234440" cy="411480"/>
          </a:xfrm>
          <a:prstGeom prst="rect">
            <a:avLst/>
          </a:prstGeom>
          <a:noFill/>
          <a:ln/>
        </p:spPr>
        <p:txBody>
          <a:bodyPr wrap="square" lIns="0" tIns="0" rIns="0" bIns="0" rtlCol="0" anchor="ctr"/>
          <a:lstStyle/>
          <a:p>
            <a:pPr algn="ctr" indent="0" marL="0">
              <a:buNone/>
            </a:pPr>
            <a:r>
              <a:rPr lang="en-US" sz="1200" b="1" dirty="0">
                <a:solidFill>
                  <a:schemeClr val="bg1"/>
                </a:solidFill>
              </a:rPr>
              <a:t>Inspected</a:t>
            </a:r>
            <a:endParaRPr lang="en-US" sz="1200" dirty="0"/>
          </a:p>
        </p:txBody>
      </p:sp>
      <p:sp>
        <p:nvSpPr>
          <p:cNvPr id="21" name="Connector 185"/>
          <p:cNvSpPr/>
          <p:nvPr/>
        </p:nvSpPr>
        <p:spPr>
          <a:xfrm>
            <a:off x="4489704" y="3909060"/>
            <a:ext cx="164592" cy="0"/>
          </a:xfrm>
          <a:prstGeom prst="line">
            <a:avLst/>
          </a:prstGeom>
          <a:noFill/>
          <a:ln w="19050">
            <a:solidFill>
              <a:schemeClr val="accent6"/>
            </a:solidFill>
            <a:prstDash val="solid"/>
            <a:tailEnd type="triangle"/>
          </a:ln>
        </p:spPr>
      </p:sp>
      <p:sp>
        <p:nvSpPr>
          <p:cNvPr id="22" name="Card 186"/>
          <p:cNvSpPr/>
          <p:nvPr/>
        </p:nvSpPr>
        <p:spPr>
          <a:xfrm>
            <a:off x="4654296" y="3703320"/>
            <a:ext cx="1234440" cy="411480"/>
          </a:xfrm>
          <a:prstGeom prst="roundRect">
            <a:avLst>
              <a:gd name="adj" fmla="val 44444"/>
            </a:avLst>
          </a:prstGeom>
          <a:solidFill>
            <a:schemeClr val="tx2"/>
          </a:solidFill>
          <a:ln/>
        </p:spPr>
      </p:sp>
      <p:sp>
        <p:nvSpPr>
          <p:cNvPr id="23" name="Text 187"/>
          <p:cNvSpPr txBox="1"/>
          <p:nvPr/>
        </p:nvSpPr>
        <p:spPr>
          <a:xfrm>
            <a:off x="4654296" y="3703320"/>
            <a:ext cx="1234440" cy="411480"/>
          </a:xfrm>
          <a:prstGeom prst="rect">
            <a:avLst/>
          </a:prstGeom>
          <a:noFill/>
          <a:ln/>
        </p:spPr>
        <p:txBody>
          <a:bodyPr wrap="square" lIns="0" tIns="0" rIns="0" bIns="0" rtlCol="0" anchor="ctr"/>
          <a:lstStyle/>
          <a:p>
            <a:pPr algn="ctr" indent="0" marL="0">
              <a:buNone/>
            </a:pPr>
            <a:r>
              <a:rPr lang="en-US" sz="1200" b="1" dirty="0">
                <a:solidFill>
                  <a:schemeClr val="bg1"/>
                </a:solidFill>
              </a:rPr>
              <a:t>In review</a:t>
            </a:r>
            <a:endParaRPr lang="en-US" sz="1200" dirty="0"/>
          </a:p>
        </p:txBody>
      </p:sp>
      <p:sp>
        <p:nvSpPr>
          <p:cNvPr id="24" name="Connector 188"/>
          <p:cNvSpPr/>
          <p:nvPr/>
        </p:nvSpPr>
        <p:spPr>
          <a:xfrm>
            <a:off x="5888736" y="3909060"/>
            <a:ext cx="164592" cy="0"/>
          </a:xfrm>
          <a:prstGeom prst="line">
            <a:avLst/>
          </a:prstGeom>
          <a:noFill/>
          <a:ln w="19050">
            <a:solidFill>
              <a:schemeClr val="accent6"/>
            </a:solidFill>
            <a:prstDash val="solid"/>
            <a:tailEnd type="triangle"/>
          </a:ln>
        </p:spPr>
      </p:sp>
      <p:sp>
        <p:nvSpPr>
          <p:cNvPr id="25" name="Card 189"/>
          <p:cNvSpPr/>
          <p:nvPr/>
        </p:nvSpPr>
        <p:spPr>
          <a:xfrm>
            <a:off x="6053328" y="3703320"/>
            <a:ext cx="1234440" cy="411480"/>
          </a:xfrm>
          <a:prstGeom prst="roundRect">
            <a:avLst>
              <a:gd name="adj" fmla="val 44444"/>
            </a:avLst>
          </a:prstGeom>
          <a:solidFill>
            <a:schemeClr val="tx2"/>
          </a:solidFill>
          <a:ln/>
        </p:spPr>
      </p:sp>
      <p:sp>
        <p:nvSpPr>
          <p:cNvPr id="26" name="Text 190"/>
          <p:cNvSpPr txBox="1"/>
          <p:nvPr/>
        </p:nvSpPr>
        <p:spPr>
          <a:xfrm>
            <a:off x="6053328" y="3703320"/>
            <a:ext cx="1234440" cy="411480"/>
          </a:xfrm>
          <a:prstGeom prst="rect">
            <a:avLst/>
          </a:prstGeom>
          <a:noFill/>
          <a:ln/>
        </p:spPr>
        <p:txBody>
          <a:bodyPr wrap="square" lIns="0" tIns="0" rIns="0" bIns="0" rtlCol="0" anchor="ctr"/>
          <a:lstStyle/>
          <a:p>
            <a:pPr algn="ctr" indent="0" marL="0">
              <a:buNone/>
            </a:pPr>
            <a:r>
              <a:rPr lang="en-US" sz="1200" b="1" dirty="0">
                <a:solidFill>
                  <a:schemeClr val="bg1"/>
                </a:solidFill>
              </a:rPr>
              <a:t>Approved</a:t>
            </a:r>
            <a:endParaRPr lang="en-US" sz="1200" dirty="0"/>
          </a:p>
        </p:txBody>
      </p:sp>
      <p:sp>
        <p:nvSpPr>
          <p:cNvPr id="27" name="Connector 191"/>
          <p:cNvSpPr/>
          <p:nvPr/>
        </p:nvSpPr>
        <p:spPr>
          <a:xfrm>
            <a:off x="7287768" y="3909060"/>
            <a:ext cx="164592" cy="0"/>
          </a:xfrm>
          <a:prstGeom prst="line">
            <a:avLst/>
          </a:prstGeom>
          <a:noFill/>
          <a:ln w="19050">
            <a:solidFill>
              <a:schemeClr val="accent6"/>
            </a:solidFill>
            <a:prstDash val="solid"/>
            <a:tailEnd type="triangle"/>
          </a:ln>
        </p:spPr>
      </p:sp>
      <p:sp>
        <p:nvSpPr>
          <p:cNvPr id="28" name="Card 192"/>
          <p:cNvSpPr/>
          <p:nvPr/>
        </p:nvSpPr>
        <p:spPr>
          <a:xfrm>
            <a:off x="7452360" y="3703320"/>
            <a:ext cx="1234440" cy="411480"/>
          </a:xfrm>
          <a:prstGeom prst="roundRect">
            <a:avLst>
              <a:gd name="adj" fmla="val 44444"/>
            </a:avLst>
          </a:prstGeom>
          <a:solidFill>
            <a:schemeClr val="accent2"/>
          </a:solidFill>
          <a:ln/>
        </p:spPr>
      </p:sp>
      <p:sp>
        <p:nvSpPr>
          <p:cNvPr id="29" name="Text 193"/>
          <p:cNvSpPr txBox="1"/>
          <p:nvPr/>
        </p:nvSpPr>
        <p:spPr>
          <a:xfrm>
            <a:off x="7452360" y="3703320"/>
            <a:ext cx="1234440" cy="411480"/>
          </a:xfrm>
          <a:prstGeom prst="rect">
            <a:avLst/>
          </a:prstGeom>
          <a:noFill/>
          <a:ln/>
        </p:spPr>
        <p:txBody>
          <a:bodyPr wrap="square" lIns="0" tIns="0" rIns="0" bIns="0" rtlCol="0" anchor="ctr"/>
          <a:lstStyle/>
          <a:p>
            <a:pPr algn="ctr" indent="0" marL="0">
              <a:buNone/>
            </a:pPr>
            <a:r>
              <a:rPr lang="en-US" sz="1200" b="1" dirty="0">
                <a:solidFill>
                  <a:schemeClr val="tx1"/>
                </a:solidFill>
              </a:rPr>
              <a:t>Live in CROIP</a:t>
            </a:r>
            <a:endParaRPr lang="en-US" sz="1200" dirty="0"/>
          </a:p>
        </p:txBody>
      </p:sp>
      <p:sp>
        <p:nvSpPr>
          <p:cNvPr id="30" name="Text 194"/>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200" dirty="0">
                <a:solidFill>
                  <a:schemeClr val="accent6"/>
                </a:solidFill>
              </a:rPr>
              <a:t>A ratepayer or the concessionaire can start it. Who assigned, scanned and approved is recorded.</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Concessionaires build on CROIP</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CROIP carries the shared load; concessionaires build and run what is local.</a:t>
            </a:r>
            <a:endParaRPr lang="en-US" sz="1600" dirty="0"/>
          </a:p>
        </p:txBody>
      </p:sp>
      <p:sp>
        <p:nvSpPr>
          <p:cNvPr id="4" name="Card 195"/>
          <p:cNvSpPr/>
          <p:nvPr/>
        </p:nvSpPr>
        <p:spPr>
          <a:xfrm>
            <a:off x="457200" y="1691640"/>
            <a:ext cx="4023360" cy="2377440"/>
          </a:xfrm>
          <a:prstGeom prst="roundRect">
            <a:avLst>
              <a:gd name="adj" fmla="val 4615"/>
            </a:avLst>
          </a:prstGeom>
          <a:solidFill>
            <a:schemeClr val="tx2"/>
          </a:solidFill>
          <a:ln/>
        </p:spPr>
      </p:sp>
      <p:sp>
        <p:nvSpPr>
          <p:cNvPr id="5" name="Icon circle 196"/>
          <p:cNvSpPr/>
          <p:nvPr/>
        </p:nvSpPr>
        <p:spPr>
          <a:xfrm>
            <a:off x="685800" y="1828800"/>
            <a:ext cx="457200" cy="457200"/>
          </a:xfrm>
          <a:prstGeom prst="ellipse">
            <a:avLst/>
          </a:prstGeom>
          <a:solidFill>
            <a:schemeClr val="accent2"/>
          </a:solidFill>
          <a:ln/>
        </p:spPr>
      </p:sp>
      <p:pic>
        <p:nvPicPr>
          <p:cNvPr id="6" name="Icon 197" descr="FaLayerGroup">    </p:cNvPr>
          <p:cNvPicPr>
            <a:picLocks noChangeAspect="1"/>
          </p:cNvPicPr>
          <p:nvPr/>
        </p:nvPicPr>
        <p:blipFill>
          <a:blip r:embed="rId1"/>
          <a:stretch>
            <a:fillRect/>
          </a:stretch>
        </p:blipFill>
        <p:spPr>
          <a:xfrm>
            <a:off x="800100" y="1943100"/>
            <a:ext cx="228600" cy="228600"/>
          </a:xfrm>
          <a:prstGeom prst="rect">
            <a:avLst/>
          </a:prstGeom>
        </p:spPr>
      </p:pic>
      <p:sp>
        <p:nvSpPr>
          <p:cNvPr id="7" name="Text 198"/>
          <p:cNvSpPr txBox="1"/>
          <p:nvPr/>
        </p:nvSpPr>
        <p:spPr>
          <a:xfrm>
            <a:off x="1280160" y="1828800"/>
            <a:ext cx="3017520" cy="457200"/>
          </a:xfrm>
          <a:prstGeom prst="rect">
            <a:avLst/>
          </a:prstGeom>
          <a:noFill/>
          <a:ln/>
        </p:spPr>
        <p:txBody>
          <a:bodyPr wrap="square" lIns="0" tIns="0" rIns="0" bIns="0" rtlCol="0" anchor="ctr"/>
          <a:lstStyle/>
          <a:p>
            <a:pPr indent="0" marL="0">
              <a:buNone/>
            </a:pPr>
            <a:r>
              <a:rPr lang="en-US" sz="1800" b="1" dirty="0">
                <a:solidFill>
                  <a:schemeClr val="bg1"/>
                </a:solidFill>
              </a:rPr>
              <a:t>CROIP provides</a:t>
            </a:r>
            <a:endParaRPr lang="en-US" sz="1800" dirty="0"/>
          </a:p>
        </p:txBody>
      </p:sp>
      <p:sp>
        <p:nvSpPr>
          <p:cNvPr id="8" name="Text 199"/>
          <p:cNvSpPr txBox="1"/>
          <p:nvPr/>
        </p:nvSpPr>
        <p:spPr>
          <a:xfrm>
            <a:off x="731520" y="2468880"/>
            <a:ext cx="356616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Registry, rate cards and bill calculator</a:t>
            </a:r>
            <a:endParaRPr lang="en-US" sz="1400" dirty="0"/>
          </a:p>
          <a:p>
            <a:pPr marL="342900" indent="-342900">
              <a:spcAft>
                <a:spcPts val="500"/>
              </a:spcAft>
              <a:buSzPct val="100000"/>
              <a:buChar char="•"/>
            </a:pPr>
            <a:r>
              <a:rPr lang="en-US" sz="1400" dirty="0">
                <a:solidFill>
                  <a:schemeClr val="bg1"/>
                </a:solidFill>
              </a:rPr>
              <a:t>Universal ratepayer app</a:t>
            </a:r>
            <a:endParaRPr lang="en-US" sz="1400" dirty="0"/>
          </a:p>
          <a:p>
            <a:pPr marL="342900" indent="-342900">
              <a:spcAft>
                <a:spcPts val="500"/>
              </a:spcAft>
              <a:buSzPct val="100000"/>
              <a:buChar char="•"/>
            </a:pPr>
            <a:r>
              <a:rPr lang="en-US" sz="1400" dirty="0">
                <a:solidFill>
                  <a:schemeClr val="bg1"/>
                </a:solidFill>
              </a:rPr>
              <a:t>Unified payment APIs</a:t>
            </a:r>
            <a:endParaRPr lang="en-US" sz="1400" dirty="0"/>
          </a:p>
          <a:p>
            <a:pPr marL="342900" indent="-342900">
              <a:spcAft>
                <a:spcPts val="500"/>
              </a:spcAft>
              <a:buSzPct val="100000"/>
              <a:buChar char="•"/>
            </a:pPr>
            <a:r>
              <a:rPr lang="en-US" sz="1400" dirty="0">
                <a:solidFill>
                  <a:schemeClr val="bg1"/>
                </a:solidFill>
              </a:rPr>
              <a:t>Developer portal, specs and sandbox</a:t>
            </a:r>
            <a:endParaRPr lang="en-US" sz="1400" dirty="0"/>
          </a:p>
        </p:txBody>
      </p:sp>
      <p:sp>
        <p:nvSpPr>
          <p:cNvPr id="9" name="Card 200"/>
          <p:cNvSpPr/>
          <p:nvPr/>
        </p:nvSpPr>
        <p:spPr>
          <a:xfrm>
            <a:off x="4663440" y="1691640"/>
            <a:ext cx="4023360" cy="2377440"/>
          </a:xfrm>
          <a:prstGeom prst="roundRect">
            <a:avLst>
              <a:gd name="adj" fmla="val 4615"/>
            </a:avLst>
          </a:prstGeom>
          <a:solidFill>
            <a:schemeClr val="bg2"/>
          </a:solidFill>
          <a:ln/>
        </p:spPr>
      </p:sp>
      <p:sp>
        <p:nvSpPr>
          <p:cNvPr id="10" name="Icon circle 201"/>
          <p:cNvSpPr/>
          <p:nvPr/>
        </p:nvSpPr>
        <p:spPr>
          <a:xfrm>
            <a:off x="4892040" y="1828800"/>
            <a:ext cx="457200" cy="457200"/>
          </a:xfrm>
          <a:prstGeom prst="ellipse">
            <a:avLst/>
          </a:prstGeom>
          <a:solidFill>
            <a:schemeClr val="accent1"/>
          </a:solidFill>
          <a:ln/>
        </p:spPr>
      </p:sp>
      <p:pic>
        <p:nvPicPr>
          <p:cNvPr id="11" name="Icon 202" descr="FaBuilding">    </p:cNvPr>
          <p:cNvPicPr>
            <a:picLocks noChangeAspect="1"/>
          </p:cNvPicPr>
          <p:nvPr/>
        </p:nvPicPr>
        <p:blipFill>
          <a:blip r:embed="rId2"/>
          <a:stretch>
            <a:fillRect/>
          </a:stretch>
        </p:blipFill>
        <p:spPr>
          <a:xfrm>
            <a:off x="5006340" y="1943100"/>
            <a:ext cx="228600" cy="228600"/>
          </a:xfrm>
          <a:prstGeom prst="rect">
            <a:avLst/>
          </a:prstGeom>
        </p:spPr>
      </p:pic>
      <p:sp>
        <p:nvSpPr>
          <p:cNvPr id="12" name="Text 203"/>
          <p:cNvSpPr txBox="1"/>
          <p:nvPr/>
        </p:nvSpPr>
        <p:spPr>
          <a:xfrm>
            <a:off x="5486400" y="1828800"/>
            <a:ext cx="3017520" cy="457200"/>
          </a:xfrm>
          <a:prstGeom prst="rect">
            <a:avLst/>
          </a:prstGeom>
          <a:noFill/>
          <a:ln/>
        </p:spPr>
        <p:txBody>
          <a:bodyPr wrap="square" lIns="0" tIns="0" rIns="0" bIns="0" rtlCol="0" anchor="ctr"/>
          <a:lstStyle/>
          <a:p>
            <a:pPr indent="0" marL="0">
              <a:buNone/>
            </a:pPr>
            <a:r>
              <a:rPr lang="en-US" sz="1800" b="1" dirty="0">
                <a:solidFill>
                  <a:schemeClr val="tx2"/>
                </a:solidFill>
              </a:rPr>
              <a:t>Concessionaire provides</a:t>
            </a:r>
            <a:endParaRPr lang="en-US" sz="1800" dirty="0"/>
          </a:p>
        </p:txBody>
      </p:sp>
      <p:sp>
        <p:nvSpPr>
          <p:cNvPr id="13" name="Text 204"/>
          <p:cNvSpPr txBox="1"/>
          <p:nvPr/>
        </p:nvSpPr>
        <p:spPr>
          <a:xfrm>
            <a:off x="4937760" y="2468880"/>
            <a:ext cx="356616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Office app and agent app</a:t>
            </a:r>
            <a:endParaRPr lang="en-US" sz="1400" dirty="0"/>
          </a:p>
          <a:p>
            <a:pPr marL="342900" indent="-342900">
              <a:spcAft>
                <a:spcPts val="500"/>
              </a:spcAft>
              <a:buSzPct val="100000"/>
              <a:buChar char="•"/>
            </a:pPr>
            <a:r>
              <a:rPr lang="en-US" sz="1400" dirty="0">
                <a:solidFill>
                  <a:schemeClr val="tx1"/>
                </a:solidFill>
              </a:rPr>
              <a:t>Field verification and billing operations</a:t>
            </a:r>
            <a:endParaRPr lang="en-US" sz="1400" dirty="0"/>
          </a:p>
          <a:p>
            <a:pPr marL="342900" indent="-342900">
              <a:spcAft>
                <a:spcPts val="500"/>
              </a:spcAft>
              <a:buSzPct val="100000"/>
              <a:buChar char="•"/>
            </a:pPr>
            <a:r>
              <a:rPr lang="en-US" sz="1400" dirty="0">
                <a:solidFill>
                  <a:schemeClr val="tx1"/>
                </a:solidFill>
              </a:rPr>
              <a:t>Accuracy of the data it captures</a:t>
            </a:r>
            <a:endParaRPr lang="en-US" sz="1400" dirty="0"/>
          </a:p>
          <a:p>
            <a:pPr marL="342900" indent="-342900">
              <a:spcAft>
                <a:spcPts val="500"/>
              </a:spcAft>
              <a:buSzPct val="100000"/>
              <a:buChar char="•"/>
            </a:pPr>
            <a:r>
              <a:rPr lang="en-US" sz="1400" dirty="0">
                <a:solidFill>
                  <a:schemeClr val="tx1"/>
                </a:solidFill>
              </a:rPr>
              <a:t>First-line help on municipal issues</a:t>
            </a:r>
            <a:endParaRPr lang="en-US" sz="1400" dirty="0"/>
          </a:p>
        </p:txBody>
      </p:sp>
      <p:sp>
        <p:nvSpPr>
          <p:cNvPr id="14" name="Icon circle 205"/>
          <p:cNvSpPr/>
          <p:nvPr/>
        </p:nvSpPr>
        <p:spPr>
          <a:xfrm>
            <a:off x="457200" y="4160520"/>
            <a:ext cx="365760" cy="365760"/>
          </a:xfrm>
          <a:prstGeom prst="ellipse">
            <a:avLst/>
          </a:prstGeom>
          <a:solidFill>
            <a:schemeClr val="accent1"/>
          </a:solidFill>
          <a:ln/>
        </p:spPr>
      </p:sp>
      <p:pic>
        <p:nvPicPr>
          <p:cNvPr id="15" name="Icon 206" descr="FaPlug">    </p:cNvPr>
          <p:cNvPicPr>
            <a:picLocks noChangeAspect="1"/>
          </p:cNvPicPr>
          <p:nvPr/>
        </p:nvPicPr>
        <p:blipFill>
          <a:blip r:embed="rId3"/>
          <a:stretch>
            <a:fillRect/>
          </a:stretch>
        </p:blipFill>
        <p:spPr>
          <a:xfrm>
            <a:off x="548640" y="4251960"/>
            <a:ext cx="182880" cy="182880"/>
          </a:xfrm>
          <a:prstGeom prst="rect">
            <a:avLst/>
          </a:prstGeom>
        </p:spPr>
      </p:pic>
      <p:sp>
        <p:nvSpPr>
          <p:cNvPr id="16" name="Text 207"/>
          <p:cNvSpPr txBox="1"/>
          <p:nvPr/>
        </p:nvSpPr>
        <p:spPr>
          <a:xfrm>
            <a:off x="960120" y="4160520"/>
            <a:ext cx="7680960" cy="365760"/>
          </a:xfrm>
          <a:prstGeom prst="rect">
            <a:avLst/>
          </a:prstGeom>
          <a:noFill/>
          <a:ln/>
        </p:spPr>
        <p:txBody>
          <a:bodyPr wrap="square" lIns="0" tIns="0" rIns="0" bIns="0" rtlCol="0" anchor="ctr"/>
          <a:lstStyle/>
          <a:p>
            <a:pPr indent="0" marL="0">
              <a:buNone/>
            </a:pPr>
            <a:r>
              <a:rPr lang="en-US" sz="1400" dirty="0">
                <a:solidFill>
                  <a:schemeClr val="tx1"/>
                </a:solidFill>
              </a:rPr>
              <a:t>Concessionaires contract only with CROIP and may serve several municipalities.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Onboarding in two layers</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One contract per concessionaire, one confirmation per municipality.</a:t>
            </a:r>
            <a:endParaRPr lang="en-US" sz="1600" dirty="0"/>
          </a:p>
        </p:txBody>
      </p:sp>
      <p:sp>
        <p:nvSpPr>
          <p:cNvPr id="4" name="Card 208"/>
          <p:cNvSpPr/>
          <p:nvPr/>
        </p:nvSpPr>
        <p:spPr>
          <a:xfrm>
            <a:off x="457200" y="1691640"/>
            <a:ext cx="4023360" cy="2377440"/>
          </a:xfrm>
          <a:prstGeom prst="roundRect">
            <a:avLst>
              <a:gd name="adj" fmla="val 4615"/>
            </a:avLst>
          </a:prstGeom>
          <a:solidFill>
            <a:schemeClr val="tx2"/>
          </a:solidFill>
          <a:ln/>
        </p:spPr>
      </p:sp>
      <p:sp>
        <p:nvSpPr>
          <p:cNvPr id="5" name="Icon circle 209"/>
          <p:cNvSpPr/>
          <p:nvPr/>
        </p:nvSpPr>
        <p:spPr>
          <a:xfrm>
            <a:off x="685800" y="1828800"/>
            <a:ext cx="457200" cy="457200"/>
          </a:xfrm>
          <a:prstGeom prst="ellipse">
            <a:avLst/>
          </a:prstGeom>
          <a:solidFill>
            <a:schemeClr val="accent2"/>
          </a:solidFill>
          <a:ln/>
        </p:spPr>
      </p:sp>
      <p:pic>
        <p:nvPicPr>
          <p:cNvPr id="6" name="Icon 210" descr="FaFileContract">    </p:cNvPr>
          <p:cNvPicPr>
            <a:picLocks noChangeAspect="1"/>
          </p:cNvPicPr>
          <p:nvPr/>
        </p:nvPicPr>
        <p:blipFill>
          <a:blip r:embed="rId1"/>
          <a:stretch>
            <a:fillRect/>
          </a:stretch>
        </p:blipFill>
        <p:spPr>
          <a:xfrm>
            <a:off x="800100" y="1943100"/>
            <a:ext cx="228600" cy="228600"/>
          </a:xfrm>
          <a:prstGeom prst="rect">
            <a:avLst/>
          </a:prstGeom>
        </p:spPr>
      </p:pic>
      <p:sp>
        <p:nvSpPr>
          <p:cNvPr id="7" name="Text 211"/>
          <p:cNvSpPr txBox="1"/>
          <p:nvPr/>
        </p:nvSpPr>
        <p:spPr>
          <a:xfrm>
            <a:off x="1280160" y="1828800"/>
            <a:ext cx="3017520" cy="457200"/>
          </a:xfrm>
          <a:prstGeom prst="rect">
            <a:avLst/>
          </a:prstGeom>
          <a:noFill/>
          <a:ln/>
        </p:spPr>
        <p:txBody>
          <a:bodyPr wrap="square" lIns="0" tIns="0" rIns="0" bIns="0" rtlCol="0" anchor="ctr"/>
          <a:lstStyle/>
          <a:p>
            <a:pPr indent="0" marL="0">
              <a:buNone/>
            </a:pPr>
            <a:r>
              <a:rPr lang="en-US" sz="1800" b="1" dirty="0">
                <a:solidFill>
                  <a:schemeClr val="bg1"/>
                </a:solidFill>
              </a:rPr>
              <a:t>Per concessionaire, once</a:t>
            </a:r>
            <a:endParaRPr lang="en-US" sz="1800" dirty="0"/>
          </a:p>
        </p:txBody>
      </p:sp>
      <p:sp>
        <p:nvSpPr>
          <p:cNvPr id="8" name="Text 212"/>
          <p:cNvSpPr txBox="1"/>
          <p:nvPr/>
        </p:nvSpPr>
        <p:spPr>
          <a:xfrm>
            <a:off x="731520" y="2468880"/>
            <a:ext cx="356616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Contract and API terms with CROIP</a:t>
            </a:r>
            <a:endParaRPr lang="en-US" sz="1400" dirty="0"/>
          </a:p>
          <a:p>
            <a:pPr marL="342900" indent="-342900">
              <a:spcAft>
                <a:spcPts val="500"/>
              </a:spcAft>
              <a:buSzPct val="100000"/>
              <a:buChar char="•"/>
            </a:pPr>
            <a:r>
              <a:rPr lang="en-US" sz="1400" dirty="0">
                <a:solidFill>
                  <a:schemeClr val="bg1"/>
                </a:solidFill>
              </a:rPr>
              <a:t>Developer portal access and keys</a:t>
            </a:r>
            <a:endParaRPr lang="en-US" sz="1400" dirty="0"/>
          </a:p>
          <a:p>
            <a:pPr marL="342900" indent="-342900">
              <a:spcAft>
                <a:spcPts val="500"/>
              </a:spcAft>
              <a:buSzPct val="100000"/>
              <a:buChar char="•"/>
            </a:pPr>
            <a:r>
              <a:rPr lang="en-US" sz="1400" dirty="0">
                <a:solidFill>
                  <a:schemeClr val="bg1"/>
                </a:solidFill>
              </a:rPr>
              <a:t>Pass the sandbox conformance suite</a:t>
            </a:r>
            <a:endParaRPr lang="en-US" sz="1400" dirty="0"/>
          </a:p>
        </p:txBody>
      </p:sp>
      <p:sp>
        <p:nvSpPr>
          <p:cNvPr id="9" name="Card 213"/>
          <p:cNvSpPr/>
          <p:nvPr/>
        </p:nvSpPr>
        <p:spPr>
          <a:xfrm>
            <a:off x="4663440" y="1691640"/>
            <a:ext cx="4023360" cy="2377440"/>
          </a:xfrm>
          <a:prstGeom prst="roundRect">
            <a:avLst>
              <a:gd name="adj" fmla="val 4615"/>
            </a:avLst>
          </a:prstGeom>
          <a:solidFill>
            <a:schemeClr val="bg2"/>
          </a:solidFill>
          <a:ln/>
        </p:spPr>
      </p:sp>
      <p:sp>
        <p:nvSpPr>
          <p:cNvPr id="10" name="Icon circle 214"/>
          <p:cNvSpPr/>
          <p:nvPr/>
        </p:nvSpPr>
        <p:spPr>
          <a:xfrm>
            <a:off x="4892040" y="1828800"/>
            <a:ext cx="457200" cy="457200"/>
          </a:xfrm>
          <a:prstGeom prst="ellipse">
            <a:avLst/>
          </a:prstGeom>
          <a:solidFill>
            <a:schemeClr val="accent1"/>
          </a:solidFill>
          <a:ln/>
        </p:spPr>
      </p:sp>
      <p:pic>
        <p:nvPicPr>
          <p:cNvPr id="11" name="Icon 215" descr="FaMapMarkedAlt">    </p:cNvPr>
          <p:cNvPicPr>
            <a:picLocks noChangeAspect="1"/>
          </p:cNvPicPr>
          <p:nvPr/>
        </p:nvPicPr>
        <p:blipFill>
          <a:blip r:embed="rId2"/>
          <a:stretch>
            <a:fillRect/>
          </a:stretch>
        </p:blipFill>
        <p:spPr>
          <a:xfrm>
            <a:off x="5006340" y="1943100"/>
            <a:ext cx="228600" cy="228600"/>
          </a:xfrm>
          <a:prstGeom prst="rect">
            <a:avLst/>
          </a:prstGeom>
        </p:spPr>
      </p:pic>
      <p:sp>
        <p:nvSpPr>
          <p:cNvPr id="12" name="Text 216"/>
          <p:cNvSpPr txBox="1"/>
          <p:nvPr/>
        </p:nvSpPr>
        <p:spPr>
          <a:xfrm>
            <a:off x="5486400" y="1828800"/>
            <a:ext cx="3017520" cy="457200"/>
          </a:xfrm>
          <a:prstGeom prst="rect">
            <a:avLst/>
          </a:prstGeom>
          <a:noFill/>
          <a:ln/>
        </p:spPr>
        <p:txBody>
          <a:bodyPr wrap="square" lIns="0" tIns="0" rIns="0" bIns="0" rtlCol="0" anchor="ctr"/>
          <a:lstStyle/>
          <a:p>
            <a:pPr indent="0" marL="0">
              <a:buNone/>
            </a:pPr>
            <a:r>
              <a:rPr lang="en-US" sz="1800" b="1" dirty="0">
                <a:solidFill>
                  <a:schemeClr val="tx2"/>
                </a:solidFill>
              </a:rPr>
              <a:t>Per municipality, each one</a:t>
            </a:r>
            <a:endParaRPr lang="en-US" sz="1800" dirty="0"/>
          </a:p>
        </p:txBody>
      </p:sp>
      <p:sp>
        <p:nvSpPr>
          <p:cNvPr id="13" name="Text 217"/>
          <p:cNvSpPr txBox="1"/>
          <p:nvPr/>
        </p:nvSpPr>
        <p:spPr>
          <a:xfrm>
            <a:off x="4937760" y="2468880"/>
            <a:ext cx="3566160" cy="14630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Appointment confirmed by the municipality's approved person</a:t>
            </a:r>
            <a:endParaRPr lang="en-US" sz="1400" dirty="0"/>
          </a:p>
          <a:p>
            <a:pPr marL="342900" indent="-342900">
              <a:spcAft>
                <a:spcPts val="500"/>
              </a:spcAft>
              <a:buSzPct val="100000"/>
              <a:buChar char="•"/>
            </a:pPr>
            <a:r>
              <a:rPr lang="en-US" sz="1400" dirty="0">
                <a:solidFill>
                  <a:schemeClr val="tx1"/>
                </a:solidFill>
              </a:rPr>
              <a:t>Rate card verified and entered</a:t>
            </a:r>
            <a:endParaRPr lang="en-US" sz="1400" dirty="0"/>
          </a:p>
          <a:p>
            <a:pPr marL="342900" indent="-342900">
              <a:spcAft>
                <a:spcPts val="500"/>
              </a:spcAft>
              <a:buSzPct val="100000"/>
              <a:buChar char="•"/>
            </a:pPr>
            <a:r>
              <a:rPr lang="en-US" sz="1400" dirty="0">
                <a:solidFill>
                  <a:schemeClr val="tx1"/>
                </a:solidFill>
              </a:rPr>
              <a:t>Configuration test before go-live</a:t>
            </a:r>
            <a:endParaRPr lang="en-US" sz="1400" dirty="0"/>
          </a:p>
        </p:txBody>
      </p:sp>
      <p:sp>
        <p:nvSpPr>
          <p:cNvPr id="14" name="Icon circle 218"/>
          <p:cNvSpPr/>
          <p:nvPr/>
        </p:nvSpPr>
        <p:spPr>
          <a:xfrm>
            <a:off x="457200" y="4160520"/>
            <a:ext cx="365760" cy="365760"/>
          </a:xfrm>
          <a:prstGeom prst="ellipse">
            <a:avLst/>
          </a:prstGeom>
          <a:solidFill>
            <a:schemeClr val="accent1"/>
          </a:solidFill>
          <a:ln/>
        </p:spPr>
      </p:sp>
      <p:pic>
        <p:nvPicPr>
          <p:cNvPr id="15" name="Icon 219" descr="FaCheck">    </p:cNvPr>
          <p:cNvPicPr>
            <a:picLocks noChangeAspect="1"/>
          </p:cNvPicPr>
          <p:nvPr/>
        </p:nvPicPr>
        <p:blipFill>
          <a:blip r:embed="rId3"/>
          <a:stretch>
            <a:fillRect/>
          </a:stretch>
        </p:blipFill>
        <p:spPr>
          <a:xfrm>
            <a:off x="548640" y="4251960"/>
            <a:ext cx="182880" cy="182880"/>
          </a:xfrm>
          <a:prstGeom prst="rect">
            <a:avLst/>
          </a:prstGeom>
        </p:spPr>
      </p:pic>
      <p:sp>
        <p:nvSpPr>
          <p:cNvPr id="16" name="Text 220"/>
          <p:cNvSpPr txBox="1"/>
          <p:nvPr/>
        </p:nvSpPr>
        <p:spPr>
          <a:xfrm>
            <a:off x="960120" y="4160520"/>
            <a:ext cx="7680960" cy="365760"/>
          </a:xfrm>
          <a:prstGeom prst="rect">
            <a:avLst/>
          </a:prstGeom>
          <a:noFill/>
          <a:ln/>
        </p:spPr>
        <p:txBody>
          <a:bodyPr wrap="square" lIns="0" tIns="0" rIns="0" bIns="0" rtlCol="0" anchor="ctr"/>
          <a:lstStyle/>
          <a:p>
            <a:pPr indent="0" marL="0">
              <a:buNone/>
            </a:pPr>
            <a:r>
              <a:rPr lang="en-US" sz="1400" dirty="0">
                <a:solidFill>
                  <a:schemeClr val="tx1"/>
                </a:solidFill>
              </a:rPr>
              <a:t>Data stays in CROIP, so switching concessionaires needs no migration.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One front door for support</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Ratepayers never need to know which concessionaire to call.</a:t>
            </a:r>
            <a:endParaRPr lang="en-US" sz="1600" dirty="0"/>
          </a:p>
        </p:txBody>
      </p:sp>
      <p:sp>
        <p:nvSpPr>
          <p:cNvPr id="4" name="Icon circle 221"/>
          <p:cNvSpPr/>
          <p:nvPr/>
        </p:nvSpPr>
        <p:spPr>
          <a:xfrm>
            <a:off x="457200" y="2697480"/>
            <a:ext cx="731520" cy="731520"/>
          </a:xfrm>
          <a:prstGeom prst="ellipse">
            <a:avLst/>
          </a:prstGeom>
          <a:solidFill>
            <a:schemeClr val="accent1"/>
          </a:solidFill>
          <a:ln/>
        </p:spPr>
      </p:sp>
      <p:pic>
        <p:nvPicPr>
          <p:cNvPr id="5" name="Icon 222" descr="FaUser">    </p:cNvPr>
          <p:cNvPicPr>
            <a:picLocks noChangeAspect="1"/>
          </p:cNvPicPr>
          <p:nvPr/>
        </p:nvPicPr>
        <p:blipFill>
          <a:blip r:embed="rId1"/>
          <a:stretch>
            <a:fillRect/>
          </a:stretch>
        </p:blipFill>
        <p:spPr>
          <a:xfrm>
            <a:off x="640080" y="2880360"/>
            <a:ext cx="365760" cy="365760"/>
          </a:xfrm>
          <a:prstGeom prst="rect">
            <a:avLst/>
          </a:prstGeom>
        </p:spPr>
      </p:pic>
      <p:sp>
        <p:nvSpPr>
          <p:cNvPr id="6" name="Text 223"/>
          <p:cNvSpPr txBox="1"/>
          <p:nvPr/>
        </p:nvSpPr>
        <p:spPr>
          <a:xfrm>
            <a:off x="274320" y="3493008"/>
            <a:ext cx="1097280" cy="228600"/>
          </a:xfrm>
          <a:prstGeom prst="rect">
            <a:avLst/>
          </a:prstGeom>
          <a:noFill/>
          <a:ln/>
        </p:spPr>
        <p:txBody>
          <a:bodyPr wrap="square" lIns="0" tIns="0" rIns="0" bIns="0" rtlCol="0" anchor="t"/>
          <a:lstStyle/>
          <a:p>
            <a:pPr algn="ctr" indent="0" marL="0">
              <a:buNone/>
            </a:pPr>
            <a:r>
              <a:rPr lang="en-US" sz="1200" b="1" dirty="0">
                <a:solidFill>
                  <a:schemeClr val="tx2"/>
                </a:solidFill>
              </a:rPr>
              <a:t>Ratepayer</a:t>
            </a:r>
            <a:endParaRPr lang="en-US" sz="1200" dirty="0"/>
          </a:p>
        </p:txBody>
      </p:sp>
      <p:sp>
        <p:nvSpPr>
          <p:cNvPr id="7" name="Connector 224"/>
          <p:cNvSpPr/>
          <p:nvPr/>
        </p:nvSpPr>
        <p:spPr>
          <a:xfrm>
            <a:off x="1188720" y="3063240"/>
            <a:ext cx="640080" cy="0"/>
          </a:xfrm>
          <a:prstGeom prst="line">
            <a:avLst/>
          </a:prstGeom>
          <a:noFill/>
          <a:ln w="19050">
            <a:solidFill>
              <a:schemeClr val="accent6"/>
            </a:solidFill>
            <a:prstDash val="solid"/>
            <a:tailEnd type="triangle"/>
          </a:ln>
        </p:spPr>
      </p:sp>
      <p:sp>
        <p:nvSpPr>
          <p:cNvPr id="8" name="Card 225"/>
          <p:cNvSpPr/>
          <p:nvPr/>
        </p:nvSpPr>
        <p:spPr>
          <a:xfrm>
            <a:off x="1828800" y="2286000"/>
            <a:ext cx="2377440" cy="1554480"/>
          </a:xfrm>
          <a:prstGeom prst="roundRect">
            <a:avLst>
              <a:gd name="adj" fmla="val 7059"/>
            </a:avLst>
          </a:prstGeom>
          <a:solidFill>
            <a:schemeClr val="bg2"/>
          </a:solidFill>
          <a:ln/>
        </p:spPr>
      </p:sp>
      <p:sp>
        <p:nvSpPr>
          <p:cNvPr id="9" name="Icon circle 226"/>
          <p:cNvSpPr/>
          <p:nvPr/>
        </p:nvSpPr>
        <p:spPr>
          <a:xfrm>
            <a:off x="2011680" y="2423160"/>
            <a:ext cx="457200" cy="457200"/>
          </a:xfrm>
          <a:prstGeom prst="ellipse">
            <a:avLst/>
          </a:prstGeom>
          <a:solidFill>
            <a:schemeClr val="accent2"/>
          </a:solidFill>
          <a:ln/>
        </p:spPr>
      </p:sp>
      <p:pic>
        <p:nvPicPr>
          <p:cNvPr id="10" name="Icon 227" descr="FaTicketAlt">    </p:cNvPr>
          <p:cNvPicPr>
            <a:picLocks noChangeAspect="1"/>
          </p:cNvPicPr>
          <p:nvPr/>
        </p:nvPicPr>
        <p:blipFill>
          <a:blip r:embed="rId2"/>
          <a:stretch>
            <a:fillRect/>
          </a:stretch>
        </p:blipFill>
        <p:spPr>
          <a:xfrm>
            <a:off x="2125980" y="2537460"/>
            <a:ext cx="228600" cy="228600"/>
          </a:xfrm>
          <a:prstGeom prst="rect">
            <a:avLst/>
          </a:prstGeom>
        </p:spPr>
      </p:pic>
      <p:sp>
        <p:nvSpPr>
          <p:cNvPr id="11" name="Text 228"/>
          <p:cNvSpPr txBox="1"/>
          <p:nvPr/>
        </p:nvSpPr>
        <p:spPr>
          <a:xfrm>
            <a:off x="2606040" y="2423160"/>
            <a:ext cx="1554480" cy="457200"/>
          </a:xfrm>
          <a:prstGeom prst="rect">
            <a:avLst/>
          </a:prstGeom>
          <a:noFill/>
          <a:ln/>
        </p:spPr>
        <p:txBody>
          <a:bodyPr wrap="square" lIns="0" tIns="0" rIns="0" bIns="0" rtlCol="0" anchor="ctr"/>
          <a:lstStyle/>
          <a:p>
            <a:pPr indent="0" marL="0">
              <a:buNone/>
            </a:pPr>
            <a:r>
              <a:rPr lang="en-US" sz="1600" b="1" dirty="0">
                <a:solidFill>
                  <a:schemeClr val="tx2"/>
                </a:solidFill>
              </a:rPr>
              <a:t>CROIP ticket</a:t>
            </a:r>
            <a:endParaRPr lang="en-US" sz="1600" dirty="0"/>
          </a:p>
        </p:txBody>
      </p:sp>
      <p:sp>
        <p:nvSpPr>
          <p:cNvPr id="12" name="Text 229"/>
          <p:cNvSpPr txBox="1"/>
          <p:nvPr/>
        </p:nvSpPr>
        <p:spPr>
          <a:xfrm>
            <a:off x="2011680" y="3017520"/>
            <a:ext cx="2057400" cy="731520"/>
          </a:xfrm>
          <a:prstGeom prst="rect">
            <a:avLst/>
          </a:prstGeom>
          <a:noFill/>
          <a:ln/>
        </p:spPr>
        <p:txBody>
          <a:bodyPr wrap="square" lIns="0" tIns="0" rIns="0" bIns="0" rtlCol="0" anchor="t"/>
          <a:lstStyle/>
          <a:p>
            <a:pPr indent="0" marL="0">
              <a:buNone/>
            </a:pPr>
            <a:r>
              <a:rPr lang="en-US" sz="1200" dirty="0">
                <a:solidFill>
                  <a:schemeClr val="tx1"/>
                </a:solidFill>
              </a:rPr>
              <a:t>Carries ratepayer, property, bill and municipality, then routes itself.</a:t>
            </a:r>
            <a:endParaRPr lang="en-US" sz="1200" dirty="0"/>
          </a:p>
        </p:txBody>
      </p:sp>
      <p:sp>
        <p:nvSpPr>
          <p:cNvPr id="13" name="Connector 230"/>
          <p:cNvSpPr/>
          <p:nvPr/>
        </p:nvSpPr>
        <p:spPr>
          <a:xfrm flipV="1">
            <a:off x="4206240" y="2331720"/>
            <a:ext cx="822960" cy="731520"/>
          </a:xfrm>
          <a:prstGeom prst="line">
            <a:avLst/>
          </a:prstGeom>
          <a:noFill/>
          <a:ln w="19050">
            <a:solidFill>
              <a:schemeClr val="accent6"/>
            </a:solidFill>
            <a:prstDash val="solid"/>
            <a:tailEnd type="triangle"/>
          </a:ln>
        </p:spPr>
      </p:sp>
      <p:sp>
        <p:nvSpPr>
          <p:cNvPr id="14" name="Connector 231"/>
          <p:cNvSpPr/>
          <p:nvPr/>
        </p:nvSpPr>
        <p:spPr>
          <a:xfrm>
            <a:off x="4206240" y="3063240"/>
            <a:ext cx="822960" cy="731520"/>
          </a:xfrm>
          <a:prstGeom prst="line">
            <a:avLst/>
          </a:prstGeom>
          <a:noFill/>
          <a:ln w="19050">
            <a:solidFill>
              <a:schemeClr val="accent6"/>
            </a:solidFill>
            <a:prstDash val="solid"/>
            <a:tailEnd type="triangle"/>
          </a:ln>
        </p:spPr>
      </p:sp>
      <p:sp>
        <p:nvSpPr>
          <p:cNvPr id="15" name="Card 232"/>
          <p:cNvSpPr/>
          <p:nvPr/>
        </p:nvSpPr>
        <p:spPr>
          <a:xfrm>
            <a:off x="5029200" y="1737360"/>
            <a:ext cx="3657600" cy="1188720"/>
          </a:xfrm>
          <a:prstGeom prst="roundRect">
            <a:avLst>
              <a:gd name="adj" fmla="val 9231"/>
            </a:avLst>
          </a:prstGeom>
          <a:solidFill>
            <a:schemeClr val="tx2"/>
          </a:solidFill>
          <a:ln/>
        </p:spPr>
      </p:sp>
      <p:sp>
        <p:nvSpPr>
          <p:cNvPr id="16" name="Text 233"/>
          <p:cNvSpPr txBox="1"/>
          <p:nvPr/>
        </p:nvSpPr>
        <p:spPr>
          <a:xfrm>
            <a:off x="5257800" y="1828800"/>
            <a:ext cx="3200400" cy="320040"/>
          </a:xfrm>
          <a:prstGeom prst="rect">
            <a:avLst/>
          </a:prstGeom>
          <a:noFill/>
          <a:ln/>
        </p:spPr>
        <p:txBody>
          <a:bodyPr wrap="square" lIns="0" tIns="0" rIns="0" bIns="0" rtlCol="0" anchor="t"/>
          <a:lstStyle/>
          <a:p>
            <a:pPr indent="0" marL="0">
              <a:buNone/>
            </a:pPr>
            <a:r>
              <a:rPr lang="en-US" sz="1600" b="1" dirty="0">
                <a:solidFill>
                  <a:schemeClr val="accent2"/>
                </a:solidFill>
              </a:rPr>
              <a:t>CROIP resolves</a:t>
            </a:r>
            <a:endParaRPr lang="en-US" sz="1600" dirty="0"/>
          </a:p>
        </p:txBody>
      </p:sp>
      <p:sp>
        <p:nvSpPr>
          <p:cNvPr id="17" name="Text 234"/>
          <p:cNvSpPr txBox="1"/>
          <p:nvPr/>
        </p:nvSpPr>
        <p:spPr>
          <a:xfrm>
            <a:off x="5257800" y="2194560"/>
            <a:ext cx="3200400" cy="640080"/>
          </a:xfrm>
          <a:prstGeom prst="rect">
            <a:avLst/>
          </a:prstGeom>
          <a:noFill/>
          <a:ln/>
        </p:spPr>
        <p:txBody>
          <a:bodyPr wrap="square" lIns="0" tIns="0" rIns="0" bIns="0" rtlCol="0" anchor="t"/>
          <a:lstStyle/>
          <a:p>
            <a:pPr indent="0" marL="0">
              <a:buNone/>
            </a:pPr>
            <a:r>
              <a:rPr lang="en-US" sz="1400" dirty="0">
                <a:solidFill>
                  <a:schemeClr val="bg1"/>
                </a:solidFill>
              </a:rPr>
              <a:t>General questions, payment failures, account issues, receipts and refunds.</a:t>
            </a:r>
            <a:endParaRPr lang="en-US" sz="1400" dirty="0"/>
          </a:p>
        </p:txBody>
      </p:sp>
      <p:sp>
        <p:nvSpPr>
          <p:cNvPr id="18" name="Card 235"/>
          <p:cNvSpPr/>
          <p:nvPr/>
        </p:nvSpPr>
        <p:spPr>
          <a:xfrm>
            <a:off x="5029200" y="3200400"/>
            <a:ext cx="3657600" cy="1188720"/>
          </a:xfrm>
          <a:prstGeom prst="roundRect">
            <a:avLst>
              <a:gd name="adj" fmla="val 9231"/>
            </a:avLst>
          </a:prstGeom>
          <a:solidFill>
            <a:schemeClr val="bg2"/>
          </a:solidFill>
          <a:ln/>
        </p:spPr>
      </p:sp>
      <p:sp>
        <p:nvSpPr>
          <p:cNvPr id="19" name="Text 236"/>
          <p:cNvSpPr txBox="1"/>
          <p:nvPr/>
        </p:nvSpPr>
        <p:spPr>
          <a:xfrm>
            <a:off x="5257800" y="3291840"/>
            <a:ext cx="3200400" cy="320040"/>
          </a:xfrm>
          <a:prstGeom prst="rect">
            <a:avLst/>
          </a:prstGeom>
          <a:noFill/>
          <a:ln/>
        </p:spPr>
        <p:txBody>
          <a:bodyPr wrap="square" lIns="0" tIns="0" rIns="0" bIns="0" rtlCol="0" anchor="t"/>
          <a:lstStyle/>
          <a:p>
            <a:pPr indent="0" marL="0">
              <a:buNone/>
            </a:pPr>
            <a:r>
              <a:rPr lang="en-US" sz="1600" b="1" dirty="0">
                <a:solidFill>
                  <a:schemeClr val="accent1"/>
                </a:solidFill>
              </a:rPr>
              <a:t>Concessionaire resolves</a:t>
            </a:r>
            <a:endParaRPr lang="en-US" sz="1600" dirty="0"/>
          </a:p>
        </p:txBody>
      </p:sp>
      <p:sp>
        <p:nvSpPr>
          <p:cNvPr id="20" name="Text 237"/>
          <p:cNvSpPr txBox="1"/>
          <p:nvPr/>
        </p:nvSpPr>
        <p:spPr>
          <a:xfrm>
            <a:off x="5257800" y="3657600"/>
            <a:ext cx="3200400" cy="640080"/>
          </a:xfrm>
          <a:prstGeom prst="rect">
            <a:avLst/>
          </a:prstGeom>
          <a:noFill/>
          <a:ln/>
        </p:spPr>
        <p:txBody>
          <a:bodyPr wrap="square" lIns="0" tIns="0" rIns="0" bIns="0" rtlCol="0" anchor="t"/>
          <a:lstStyle/>
          <a:p>
            <a:pPr indent="0" marL="0">
              <a:buNone/>
            </a:pPr>
            <a:r>
              <a:rPr lang="en-US" sz="1400" dirty="0">
                <a:solidFill>
                  <a:schemeClr val="tx1"/>
                </a:solidFill>
              </a:rPr>
              <a:t>Bill queries, boundary disputes, registration requests and rechecks.</a:t>
            </a:r>
            <a:endParaRPr lang="en-US" sz="1400" dirty="0"/>
          </a:p>
        </p:txBody>
      </p:sp>
      <p:sp>
        <p:nvSpPr>
          <p:cNvPr id="21" name="Text 238"/>
          <p:cNvSpPr txBox="1"/>
          <p:nvPr/>
        </p:nvSpPr>
        <p:spPr>
          <a:xfrm>
            <a:off x="1828800" y="3977640"/>
            <a:ext cx="2651760" cy="548640"/>
          </a:xfrm>
          <a:prstGeom prst="rect">
            <a:avLst/>
          </a:prstGeom>
          <a:noFill/>
          <a:ln/>
        </p:spPr>
        <p:txBody>
          <a:bodyPr wrap="square" lIns="0" tIns="0" rIns="0" bIns="0" rtlCol="0" anchor="t"/>
          <a:lstStyle/>
          <a:p>
            <a:pPr indent="0" marL="0">
              <a:buNone/>
            </a:pPr>
            <a:r>
              <a:rPr lang="en-US" sz="1200" dirty="0">
                <a:solidFill>
                  <a:schemeClr val="accent6"/>
                </a:solidFill>
              </a:rPr>
              <a:t>Tickets can be reassigned between the two sides without the ratepayer repeating their story.</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Risks we are designing for</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Approach 2 shifts responsibility to CROIP, so we plan for it.</a:t>
            </a:r>
            <a:endParaRPr lang="en-US" sz="1600" dirty="0"/>
          </a:p>
        </p:txBody>
      </p:sp>
      <p:graphicFrame>
        <p:nvGraphicFramePr>
          <p:cNvPr id="13" name="Risk table"/>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3840480"/>
                <a:gridCol w="4389120"/>
              </a:tblGrid>
              <a:tr h="365760">
                <a:tc>
                  <a:txBody>
                    <a:bodyPr/>
                    <a:lstStyle/>
                    <a:p>
                      <a:pPr indent="0" marL="0">
                        <a:buNone/>
                      </a:pPr>
                      <a:r>
                        <a:rPr lang="en-US" sz="1400" b="1" dirty="0">
                          <a:solidFill>
                            <a:srgbClr val="FFFFFF"/>
                          </a:solidFill>
                        </a:rPr>
                        <a:t>Risk</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0B3A47"/>
                    </a:solidFill>
                  </a:tcPr>
                </a:tc>
                <a:tc>
                  <a:txBody>
                    <a:bodyPr/>
                    <a:lstStyle/>
                    <a:p>
                      <a:pPr indent="0" marL="0">
                        <a:buNone/>
                      </a:pPr>
                      <a:r>
                        <a:rPr lang="en-US" sz="1400" b="1" dirty="0">
                          <a:solidFill>
                            <a:srgbClr val="FFFFFF"/>
                          </a:solidFill>
                        </a:rPr>
                        <a:t>How we handle it</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0B3A47"/>
                    </a:solidFill>
                  </a:tcPr>
                </a:tc>
              </a:tr>
              <a:tr h="621792">
                <a:tc>
                  <a:txBody>
                    <a:bodyPr/>
                    <a:lstStyle/>
                    <a:p>
                      <a:pPr indent="0" marL="0">
                        <a:buNone/>
                      </a:pPr>
                      <a:r>
                        <a:rPr lang="en-US" sz="1400" b="1" dirty="0">
                          <a:solidFill>
                            <a:srgbClr val="0B3A47"/>
                          </a:solidFill>
                        </a:rPr>
                        <a:t>CROIP becomes a single point of failure</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EAF3F4"/>
                    </a:solidFill>
                  </a:tcPr>
                </a:tc>
                <a:tc>
                  <a:txBody>
                    <a:bodyPr/>
                    <a:lstStyle/>
                    <a:p>
                      <a:pPr indent="0" marL="0">
                        <a:buNone/>
                      </a:pPr>
                      <a:r>
                        <a:rPr lang="en-US" sz="1400" dirty="0">
                          <a:solidFill>
                            <a:srgbClr val="10222B"/>
                          </a:solidFill>
                        </a:rPr>
                        <a:t>High-availability design, payment retries, status page</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0B3A47"/>
                          </a:solidFill>
                        </a:rPr>
                        <a:t>A property is added or claimed falsely, or requests flood the queue</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EAF3F4"/>
                    </a:solidFill>
                  </a:tcPr>
                </a:tc>
                <a:tc>
                  <a:txBody>
                    <a:bodyPr/>
                    <a:lstStyle/>
                    <a:p>
                      <a:pPr indent="0" marL="0">
                        <a:buNone/>
                      </a:pPr>
                      <a:r>
                        <a:rPr lang="en-US" sz="1400" dirty="0">
                          <a:solidFill>
                            <a:srgbClr val="10222B"/>
                          </a:solidFill>
                        </a:rPr>
                        <a:t>Claim-and-verify, duplicate checks, limits on open requests</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0B3A47"/>
                          </a:solidFill>
                        </a:rPr>
                        <a:t>Regulatory exposure from routing money</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EAF3F4"/>
                    </a:solidFill>
                  </a:tcPr>
                </a:tc>
                <a:tc>
                  <a:txBody>
                    <a:bodyPr/>
                    <a:lstStyle/>
                    <a:p>
                      <a:pPr indent="0" marL="0">
                        <a:buNone/>
                      </a:pPr>
                      <a:r>
                        <a:rPr lang="en-US" sz="1400" dirty="0">
                          <a:solidFill>
                            <a:srgbClr val="10222B"/>
                          </a:solidFill>
                        </a:rPr>
                        <a:t>No balances held; confirm licensing with counsel and the bank</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0B3A47"/>
                          </a:solidFill>
                        </a:rPr>
                        <a:t>Quality varies across concessionaire systems</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EAF3F4"/>
                    </a:solidFill>
                  </a:tcPr>
                </a:tc>
                <a:tc>
                  <a:txBody>
                    <a:bodyPr/>
                    <a:lstStyle/>
                    <a:p>
                      <a:pPr indent="0" marL="0">
                        <a:buNone/>
                      </a:pPr>
                      <a:r>
                        <a:rPr lang="en-US" sz="1400" dirty="0">
                          <a:solidFill>
                            <a:srgbClr val="10222B"/>
                          </a:solidFill>
                        </a:rPr>
                        <a:t>Conformance gate, shared ticketing, scorecards</a:t>
                      </a:r>
                      <a:endParaRPr lang="en-US" sz="1400" dirty="0"/>
                    </a:p>
                  </a:txBody>
                  <a:tcPr marL="109728" marR="109728" marT="45720" marB="45720" anchor="ctr">
                    <a:lnL w="9525" cap="flat" cmpd="sng" algn="ctr">
                      <a:solidFill>
                        <a:srgbClr val="C5D3D8"/>
                      </a:solidFill>
                      <a:prstDash val="solid"/>
                      <a:round/>
                      <a:headEnd type="none" w="med" len="med"/>
                      <a:tailEnd type="none" w="med" len="med"/>
                    </a:lnL>
                    <a:lnR w="9525" cap="flat" cmpd="sng" algn="ctr">
                      <a:solidFill>
                        <a:srgbClr val="C5D3D8"/>
                      </a:solidFill>
                      <a:prstDash val="solid"/>
                      <a:round/>
                      <a:headEnd type="none" w="med" len="med"/>
                      <a:tailEnd type="none" w="med" len="med"/>
                    </a:lnR>
                    <a:lnT w="9525" cap="flat" cmpd="sng" algn="ctr">
                      <a:solidFill>
                        <a:srgbClr val="C5D3D8"/>
                      </a:solidFill>
                      <a:prstDash val="solid"/>
                      <a:round/>
                      <a:headEnd type="none" w="med" len="med"/>
                      <a:tailEnd type="none" w="med" len="med"/>
                    </a:lnT>
                    <a:lnB w="9525" cap="flat" cmpd="sng" algn="ctr">
                      <a:solidFill>
                        <a:srgbClr val="C5D3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Still to decide</a:t>
            </a:r>
            <a:endParaRPr lang="en-US" sz="3400" dirty="0"/>
          </a:p>
        </p:txBody>
      </p:sp>
      <p:sp>
        <p:nvSpPr>
          <p:cNvPr id="3" name="Text 0"/>
          <p:cNvSpPr/>
          <p:nvPr>
            <p:ph idx="101" type="body" hasCustomPrompt="1"/>
          </p:nvPr>
        </p:nvSpPr>
        <p:spPr>
          <a:xfrm>
            <a:off x="457200" y="1005840"/>
            <a:ext cx="8229600" cy="457200"/>
          </a:xfrm>
          <a:prstGeom prst="rect">
            <a:avLst/>
          </a:prstGeom>
          <a:noFill/>
          <a:ln/>
        </p:spPr>
        <p:txBody>
          <a:bodyPr wrap="square" lIns="0" tIns="0" rIns="0" bIns="0" rtlCol="0" anchor="t"/>
          <a:lstStyle/>
          <a:p>
            <a:pPr algn="l" indent="0" marL="0">
              <a:buNone/>
            </a:pPr>
            <a:r>
              <a:rPr lang="en-US" sz="1600" dirty="0">
                <a:solidFill>
                  <a:schemeClr val="accent6"/>
                </a:solidFill>
              </a:rPr>
              <a:t>Eight open items to settle before build.</a:t>
            </a:r>
            <a:endParaRPr lang="en-US" sz="1600" dirty="0"/>
          </a:p>
        </p:txBody>
      </p:sp>
      <p:sp>
        <p:nvSpPr>
          <p:cNvPr id="4" name="Card 239"/>
          <p:cNvSpPr/>
          <p:nvPr/>
        </p:nvSpPr>
        <p:spPr>
          <a:xfrm>
            <a:off x="457200" y="1691640"/>
            <a:ext cx="1920240" cy="1325880"/>
          </a:xfrm>
          <a:prstGeom prst="roundRect">
            <a:avLst>
              <a:gd name="adj" fmla="val 8276"/>
            </a:avLst>
          </a:prstGeom>
          <a:solidFill>
            <a:schemeClr val="bg2"/>
          </a:solidFill>
          <a:ln/>
        </p:spPr>
      </p:sp>
      <p:sp>
        <p:nvSpPr>
          <p:cNvPr id="5" name="Icon circle 240"/>
          <p:cNvSpPr/>
          <p:nvPr/>
        </p:nvSpPr>
        <p:spPr>
          <a:xfrm>
            <a:off x="640080" y="1856232"/>
            <a:ext cx="457200" cy="457200"/>
          </a:xfrm>
          <a:prstGeom prst="ellipse">
            <a:avLst/>
          </a:prstGeom>
          <a:solidFill>
            <a:schemeClr val="accent1"/>
          </a:solidFill>
          <a:ln/>
        </p:spPr>
      </p:sp>
      <p:pic>
        <p:nvPicPr>
          <p:cNvPr id="6" name="Icon 241" descr="FaIdCard">    </p:cNvPr>
          <p:cNvPicPr>
            <a:picLocks noChangeAspect="1"/>
          </p:cNvPicPr>
          <p:nvPr/>
        </p:nvPicPr>
        <p:blipFill>
          <a:blip r:embed="rId1"/>
          <a:stretch>
            <a:fillRect/>
          </a:stretch>
        </p:blipFill>
        <p:spPr>
          <a:xfrm>
            <a:off x="754380" y="1970532"/>
            <a:ext cx="228600" cy="228600"/>
          </a:xfrm>
          <a:prstGeom prst="rect">
            <a:avLst/>
          </a:prstGeom>
        </p:spPr>
      </p:pic>
      <p:sp>
        <p:nvSpPr>
          <p:cNvPr id="7" name="Text 242"/>
          <p:cNvSpPr txBox="1"/>
          <p:nvPr/>
        </p:nvSpPr>
        <p:spPr>
          <a:xfrm>
            <a:off x="640080" y="2423160"/>
            <a:ext cx="1600200" cy="502920"/>
          </a:xfrm>
          <a:prstGeom prst="rect">
            <a:avLst/>
          </a:prstGeom>
          <a:noFill/>
          <a:ln/>
        </p:spPr>
        <p:txBody>
          <a:bodyPr wrap="square" lIns="0" tIns="0" rIns="0" bIns="0" rtlCol="0" anchor="t"/>
          <a:lstStyle/>
          <a:p>
            <a:pPr indent="0" marL="0">
              <a:buNone/>
            </a:pPr>
            <a:r>
              <a:rPr lang="en-US" sz="1400" b="1" dirty="0">
                <a:solidFill>
                  <a:schemeClr val="tx2"/>
                </a:solidFill>
              </a:rPr>
              <a:t>Identity design</a:t>
            </a:r>
            <a:endParaRPr lang="en-US" sz="1400" dirty="0"/>
          </a:p>
        </p:txBody>
      </p:sp>
      <p:sp>
        <p:nvSpPr>
          <p:cNvPr id="8" name="Card 243"/>
          <p:cNvSpPr/>
          <p:nvPr/>
        </p:nvSpPr>
        <p:spPr>
          <a:xfrm>
            <a:off x="2560320" y="1691640"/>
            <a:ext cx="1920240" cy="1325880"/>
          </a:xfrm>
          <a:prstGeom prst="roundRect">
            <a:avLst>
              <a:gd name="adj" fmla="val 8276"/>
            </a:avLst>
          </a:prstGeom>
          <a:solidFill>
            <a:schemeClr val="bg2"/>
          </a:solidFill>
          <a:ln/>
        </p:spPr>
      </p:sp>
      <p:sp>
        <p:nvSpPr>
          <p:cNvPr id="9" name="Icon circle 244"/>
          <p:cNvSpPr/>
          <p:nvPr/>
        </p:nvSpPr>
        <p:spPr>
          <a:xfrm>
            <a:off x="2743200" y="1856232"/>
            <a:ext cx="457200" cy="457200"/>
          </a:xfrm>
          <a:prstGeom prst="ellipse">
            <a:avLst/>
          </a:prstGeom>
          <a:solidFill>
            <a:schemeClr val="accent1"/>
          </a:solidFill>
          <a:ln/>
        </p:spPr>
      </p:sp>
      <p:pic>
        <p:nvPicPr>
          <p:cNvPr id="10" name="Icon 245" descr="FaBalanceScale">    </p:cNvPr>
          <p:cNvPicPr>
            <a:picLocks noChangeAspect="1"/>
          </p:cNvPicPr>
          <p:nvPr/>
        </p:nvPicPr>
        <p:blipFill>
          <a:blip r:embed="rId2"/>
          <a:stretch>
            <a:fillRect/>
          </a:stretch>
        </p:blipFill>
        <p:spPr>
          <a:xfrm>
            <a:off x="2857500" y="1970532"/>
            <a:ext cx="228600" cy="228600"/>
          </a:xfrm>
          <a:prstGeom prst="rect">
            <a:avLst/>
          </a:prstGeom>
        </p:spPr>
      </p:pic>
      <p:sp>
        <p:nvSpPr>
          <p:cNvPr id="11" name="Text 246"/>
          <p:cNvSpPr txBox="1"/>
          <p:nvPr/>
        </p:nvSpPr>
        <p:spPr>
          <a:xfrm>
            <a:off x="2743200" y="2423160"/>
            <a:ext cx="1600200" cy="502920"/>
          </a:xfrm>
          <a:prstGeom prst="rect">
            <a:avLst/>
          </a:prstGeom>
          <a:noFill/>
          <a:ln/>
        </p:spPr>
        <p:txBody>
          <a:bodyPr wrap="square" lIns="0" tIns="0" rIns="0" bIns="0" rtlCol="0" anchor="t"/>
          <a:lstStyle/>
          <a:p>
            <a:pPr indent="0" marL="0">
              <a:buNone/>
            </a:pPr>
            <a:r>
              <a:rPr lang="en-US" sz="1400" b="1" dirty="0">
                <a:solidFill>
                  <a:schemeClr val="tx2"/>
                </a:solidFill>
              </a:rPr>
              <a:t>Settlement by municipality</a:t>
            </a:r>
            <a:endParaRPr lang="en-US" sz="1400" dirty="0"/>
          </a:p>
        </p:txBody>
      </p:sp>
      <p:sp>
        <p:nvSpPr>
          <p:cNvPr id="12" name="Card 247"/>
          <p:cNvSpPr/>
          <p:nvPr/>
        </p:nvSpPr>
        <p:spPr>
          <a:xfrm>
            <a:off x="4663440" y="1691640"/>
            <a:ext cx="1920240" cy="1325880"/>
          </a:xfrm>
          <a:prstGeom prst="roundRect">
            <a:avLst>
              <a:gd name="adj" fmla="val 8276"/>
            </a:avLst>
          </a:prstGeom>
          <a:solidFill>
            <a:schemeClr val="bg2"/>
          </a:solidFill>
          <a:ln/>
        </p:spPr>
      </p:sp>
      <p:sp>
        <p:nvSpPr>
          <p:cNvPr id="13" name="Icon circle 248"/>
          <p:cNvSpPr/>
          <p:nvPr/>
        </p:nvSpPr>
        <p:spPr>
          <a:xfrm>
            <a:off x="4846320" y="1856232"/>
            <a:ext cx="457200" cy="457200"/>
          </a:xfrm>
          <a:prstGeom prst="ellipse">
            <a:avLst/>
          </a:prstGeom>
          <a:solidFill>
            <a:schemeClr val="accent1"/>
          </a:solidFill>
          <a:ln/>
        </p:spPr>
      </p:sp>
      <p:pic>
        <p:nvPicPr>
          <p:cNvPr id="14" name="Icon 249" descr="FaExclamationTriangle">    </p:cNvPr>
          <p:cNvPicPr>
            <a:picLocks noChangeAspect="1"/>
          </p:cNvPicPr>
          <p:nvPr/>
        </p:nvPicPr>
        <p:blipFill>
          <a:blip r:embed="rId3"/>
          <a:stretch>
            <a:fillRect/>
          </a:stretch>
        </p:blipFill>
        <p:spPr>
          <a:xfrm>
            <a:off x="4960620" y="1970532"/>
            <a:ext cx="228600" cy="228600"/>
          </a:xfrm>
          <a:prstGeom prst="rect">
            <a:avLst/>
          </a:prstGeom>
        </p:spPr>
      </p:pic>
      <p:sp>
        <p:nvSpPr>
          <p:cNvPr id="15" name="Text 250"/>
          <p:cNvSpPr txBox="1"/>
          <p:nvPr/>
        </p:nvSpPr>
        <p:spPr>
          <a:xfrm>
            <a:off x="4846320" y="2423160"/>
            <a:ext cx="1600200" cy="502920"/>
          </a:xfrm>
          <a:prstGeom prst="rect">
            <a:avLst/>
          </a:prstGeom>
          <a:noFill/>
          <a:ln/>
        </p:spPr>
        <p:txBody>
          <a:bodyPr wrap="square" lIns="0" tIns="0" rIns="0" bIns="0" rtlCol="0" anchor="t"/>
          <a:lstStyle/>
          <a:p>
            <a:pPr indent="0" marL="0">
              <a:buNone/>
            </a:pPr>
            <a:r>
              <a:rPr lang="en-US" sz="1400" b="1" dirty="0">
                <a:solidFill>
                  <a:schemeClr val="tx2"/>
                </a:solidFill>
              </a:rPr>
              <a:t>Billing during disputes</a:t>
            </a:r>
            <a:endParaRPr lang="en-US" sz="1400" dirty="0"/>
          </a:p>
        </p:txBody>
      </p:sp>
      <p:sp>
        <p:nvSpPr>
          <p:cNvPr id="16" name="Card 251"/>
          <p:cNvSpPr/>
          <p:nvPr/>
        </p:nvSpPr>
        <p:spPr>
          <a:xfrm>
            <a:off x="6766560" y="1691640"/>
            <a:ext cx="1920240" cy="1325880"/>
          </a:xfrm>
          <a:prstGeom prst="roundRect">
            <a:avLst>
              <a:gd name="adj" fmla="val 8276"/>
            </a:avLst>
          </a:prstGeom>
          <a:solidFill>
            <a:schemeClr val="bg2"/>
          </a:solidFill>
          <a:ln/>
        </p:spPr>
      </p:sp>
      <p:sp>
        <p:nvSpPr>
          <p:cNvPr id="17" name="Icon circle 252"/>
          <p:cNvSpPr/>
          <p:nvPr/>
        </p:nvSpPr>
        <p:spPr>
          <a:xfrm>
            <a:off x="6949440" y="1856232"/>
            <a:ext cx="457200" cy="457200"/>
          </a:xfrm>
          <a:prstGeom prst="ellipse">
            <a:avLst/>
          </a:prstGeom>
          <a:solidFill>
            <a:schemeClr val="accent1"/>
          </a:solidFill>
          <a:ln/>
        </p:spPr>
      </p:sp>
      <p:pic>
        <p:nvPicPr>
          <p:cNvPr id="18" name="Icon 253" descr="FaFileContract">    </p:cNvPr>
          <p:cNvPicPr>
            <a:picLocks noChangeAspect="1"/>
          </p:cNvPicPr>
          <p:nvPr/>
        </p:nvPicPr>
        <p:blipFill>
          <a:blip r:embed="rId4"/>
          <a:stretch>
            <a:fillRect/>
          </a:stretch>
        </p:blipFill>
        <p:spPr>
          <a:xfrm>
            <a:off x="7063740" y="1970532"/>
            <a:ext cx="228600" cy="228600"/>
          </a:xfrm>
          <a:prstGeom prst="rect">
            <a:avLst/>
          </a:prstGeom>
        </p:spPr>
      </p:pic>
      <p:sp>
        <p:nvSpPr>
          <p:cNvPr id="19" name="Text 254"/>
          <p:cNvSpPr txBox="1"/>
          <p:nvPr/>
        </p:nvSpPr>
        <p:spPr>
          <a:xfrm>
            <a:off x="6949440" y="2423160"/>
            <a:ext cx="1600200" cy="502920"/>
          </a:xfrm>
          <a:prstGeom prst="rect">
            <a:avLst/>
          </a:prstGeom>
          <a:noFill/>
          <a:ln/>
        </p:spPr>
        <p:txBody>
          <a:bodyPr wrap="square" lIns="0" tIns="0" rIns="0" bIns="0" rtlCol="0" anchor="t"/>
          <a:lstStyle/>
          <a:p>
            <a:pPr indent="0" marL="0">
              <a:buNone/>
            </a:pPr>
            <a:r>
              <a:rPr lang="en-US" sz="1400" b="1" dirty="0">
                <a:solidFill>
                  <a:schemeClr val="tx2"/>
                </a:solidFill>
              </a:rPr>
              <a:t>Licensing for payments</a:t>
            </a:r>
            <a:endParaRPr lang="en-US" sz="1400" dirty="0"/>
          </a:p>
        </p:txBody>
      </p:sp>
      <p:sp>
        <p:nvSpPr>
          <p:cNvPr id="20" name="Card 255"/>
          <p:cNvSpPr/>
          <p:nvPr/>
        </p:nvSpPr>
        <p:spPr>
          <a:xfrm>
            <a:off x="457200" y="3200400"/>
            <a:ext cx="1920240" cy="1325880"/>
          </a:xfrm>
          <a:prstGeom prst="roundRect">
            <a:avLst>
              <a:gd name="adj" fmla="val 8276"/>
            </a:avLst>
          </a:prstGeom>
          <a:solidFill>
            <a:schemeClr val="bg2"/>
          </a:solidFill>
          <a:ln/>
        </p:spPr>
      </p:sp>
      <p:sp>
        <p:nvSpPr>
          <p:cNvPr id="21" name="Icon circle 256"/>
          <p:cNvSpPr/>
          <p:nvPr/>
        </p:nvSpPr>
        <p:spPr>
          <a:xfrm>
            <a:off x="640080" y="3364992"/>
            <a:ext cx="457200" cy="457200"/>
          </a:xfrm>
          <a:prstGeom prst="ellipse">
            <a:avLst/>
          </a:prstGeom>
          <a:solidFill>
            <a:schemeClr val="accent1"/>
          </a:solidFill>
          <a:ln/>
        </p:spPr>
      </p:sp>
      <p:pic>
        <p:nvPicPr>
          <p:cNvPr id="22" name="Icon 257" descr="FaHeadset">    </p:cNvPr>
          <p:cNvPicPr>
            <a:picLocks noChangeAspect="1"/>
          </p:cNvPicPr>
          <p:nvPr/>
        </p:nvPicPr>
        <p:blipFill>
          <a:blip r:embed="rId5"/>
          <a:stretch>
            <a:fillRect/>
          </a:stretch>
        </p:blipFill>
        <p:spPr>
          <a:xfrm>
            <a:off x="754380" y="3479292"/>
            <a:ext cx="228600" cy="228600"/>
          </a:xfrm>
          <a:prstGeom prst="rect">
            <a:avLst/>
          </a:prstGeom>
        </p:spPr>
      </p:pic>
      <p:sp>
        <p:nvSpPr>
          <p:cNvPr id="23" name="Text 258"/>
          <p:cNvSpPr txBox="1"/>
          <p:nvPr/>
        </p:nvSpPr>
        <p:spPr>
          <a:xfrm>
            <a:off x="640080" y="3931920"/>
            <a:ext cx="1600200" cy="502920"/>
          </a:xfrm>
          <a:prstGeom prst="rect">
            <a:avLst/>
          </a:prstGeom>
          <a:noFill/>
          <a:ln/>
        </p:spPr>
        <p:txBody>
          <a:bodyPr wrap="square" lIns="0" tIns="0" rIns="0" bIns="0" rtlCol="0" anchor="t"/>
          <a:lstStyle/>
          <a:p>
            <a:pPr indent="0" marL="0">
              <a:buNone/>
            </a:pPr>
            <a:r>
              <a:rPr lang="en-US" sz="1400" b="1" dirty="0">
                <a:solidFill>
                  <a:schemeClr val="tx2"/>
                </a:solidFill>
              </a:rPr>
              <a:t>First-line support staffing</a:t>
            </a:r>
            <a:endParaRPr lang="en-US" sz="1400" dirty="0"/>
          </a:p>
        </p:txBody>
      </p:sp>
      <p:sp>
        <p:nvSpPr>
          <p:cNvPr id="24" name="Card 259"/>
          <p:cNvSpPr/>
          <p:nvPr/>
        </p:nvSpPr>
        <p:spPr>
          <a:xfrm>
            <a:off x="2560320" y="3200400"/>
            <a:ext cx="1920240" cy="1325880"/>
          </a:xfrm>
          <a:prstGeom prst="roundRect">
            <a:avLst>
              <a:gd name="adj" fmla="val 8276"/>
            </a:avLst>
          </a:prstGeom>
          <a:solidFill>
            <a:schemeClr val="bg2"/>
          </a:solidFill>
          <a:ln/>
        </p:spPr>
      </p:sp>
      <p:sp>
        <p:nvSpPr>
          <p:cNvPr id="25" name="Icon circle 260"/>
          <p:cNvSpPr/>
          <p:nvPr/>
        </p:nvSpPr>
        <p:spPr>
          <a:xfrm>
            <a:off x="2743200" y="3364992"/>
            <a:ext cx="457200" cy="457200"/>
          </a:xfrm>
          <a:prstGeom prst="ellipse">
            <a:avLst/>
          </a:prstGeom>
          <a:solidFill>
            <a:schemeClr val="accent1"/>
          </a:solidFill>
          <a:ln/>
        </p:spPr>
      </p:sp>
      <p:pic>
        <p:nvPicPr>
          <p:cNvPr id="26" name="Icon 261" descr="FaUserCheck">    </p:cNvPr>
          <p:cNvPicPr>
            <a:picLocks noChangeAspect="1"/>
          </p:cNvPicPr>
          <p:nvPr/>
        </p:nvPicPr>
        <p:blipFill>
          <a:blip r:embed="rId6"/>
          <a:stretch>
            <a:fillRect/>
          </a:stretch>
        </p:blipFill>
        <p:spPr>
          <a:xfrm>
            <a:off x="2857500" y="3479292"/>
            <a:ext cx="228600" cy="228600"/>
          </a:xfrm>
          <a:prstGeom prst="rect">
            <a:avLst/>
          </a:prstGeom>
        </p:spPr>
      </p:pic>
      <p:sp>
        <p:nvSpPr>
          <p:cNvPr id="27" name="Text 262"/>
          <p:cNvSpPr txBox="1"/>
          <p:nvPr/>
        </p:nvSpPr>
        <p:spPr>
          <a:xfrm>
            <a:off x="2743200" y="3931920"/>
            <a:ext cx="1600200" cy="502920"/>
          </a:xfrm>
          <a:prstGeom prst="rect">
            <a:avLst/>
          </a:prstGeom>
          <a:noFill/>
          <a:ln/>
        </p:spPr>
        <p:txBody>
          <a:bodyPr wrap="square" lIns="0" tIns="0" rIns="0" bIns="0" rtlCol="0" anchor="t"/>
          <a:lstStyle/>
          <a:p>
            <a:pPr indent="0" marL="0">
              <a:buNone/>
            </a:pPr>
            <a:r>
              <a:rPr lang="en-US" sz="1400" b="1" dirty="0">
                <a:solidFill>
                  <a:schemeClr val="tx2"/>
                </a:solidFill>
              </a:rPr>
              <a:t>Review-queue rules</a:t>
            </a:r>
            <a:endParaRPr lang="en-US" sz="1400" dirty="0"/>
          </a:p>
        </p:txBody>
      </p:sp>
      <p:sp>
        <p:nvSpPr>
          <p:cNvPr id="28" name="Card 263"/>
          <p:cNvSpPr/>
          <p:nvPr/>
        </p:nvSpPr>
        <p:spPr>
          <a:xfrm>
            <a:off x="4663440" y="3200400"/>
            <a:ext cx="1920240" cy="1325880"/>
          </a:xfrm>
          <a:prstGeom prst="roundRect">
            <a:avLst>
              <a:gd name="adj" fmla="val 8276"/>
            </a:avLst>
          </a:prstGeom>
          <a:solidFill>
            <a:schemeClr val="bg2"/>
          </a:solidFill>
          <a:ln/>
        </p:spPr>
      </p:sp>
      <p:sp>
        <p:nvSpPr>
          <p:cNvPr id="29" name="Icon circle 264"/>
          <p:cNvSpPr/>
          <p:nvPr/>
        </p:nvSpPr>
        <p:spPr>
          <a:xfrm>
            <a:off x="4846320" y="3364992"/>
            <a:ext cx="457200" cy="457200"/>
          </a:xfrm>
          <a:prstGeom prst="ellipse">
            <a:avLst/>
          </a:prstGeom>
          <a:solidFill>
            <a:schemeClr val="accent1"/>
          </a:solidFill>
          <a:ln/>
        </p:spPr>
      </p:sp>
      <p:pic>
        <p:nvPicPr>
          <p:cNvPr id="30" name="Icon 265" descr="FaDatabase">    </p:cNvPr>
          <p:cNvPicPr>
            <a:picLocks noChangeAspect="1"/>
          </p:cNvPicPr>
          <p:nvPr/>
        </p:nvPicPr>
        <p:blipFill>
          <a:blip r:embed="rId7"/>
          <a:stretch>
            <a:fillRect/>
          </a:stretch>
        </p:blipFill>
        <p:spPr>
          <a:xfrm>
            <a:off x="4960620" y="3479292"/>
            <a:ext cx="228600" cy="228600"/>
          </a:xfrm>
          <a:prstGeom prst="rect">
            <a:avLst/>
          </a:prstGeom>
        </p:spPr>
      </p:pic>
      <p:sp>
        <p:nvSpPr>
          <p:cNvPr id="31" name="Text 266"/>
          <p:cNvSpPr txBox="1"/>
          <p:nvPr/>
        </p:nvSpPr>
        <p:spPr>
          <a:xfrm>
            <a:off x="4846320" y="3931920"/>
            <a:ext cx="1600200" cy="502920"/>
          </a:xfrm>
          <a:prstGeom prst="rect">
            <a:avLst/>
          </a:prstGeom>
          <a:noFill/>
          <a:ln/>
        </p:spPr>
        <p:txBody>
          <a:bodyPr wrap="square" lIns="0" tIns="0" rIns="0" bIns="0" rtlCol="0" anchor="t"/>
          <a:lstStyle/>
          <a:p>
            <a:pPr indent="0" marL="0">
              <a:buNone/>
            </a:pPr>
            <a:r>
              <a:rPr lang="en-US" sz="1400" b="1" dirty="0">
                <a:solidFill>
                  <a:schemeClr val="tx2"/>
                </a:solidFill>
              </a:rPr>
              <a:t>LVD data exchange</a:t>
            </a:r>
            <a:endParaRPr lang="en-US" sz="1400" dirty="0"/>
          </a:p>
        </p:txBody>
      </p:sp>
      <p:sp>
        <p:nvSpPr>
          <p:cNvPr id="32" name="Card 267"/>
          <p:cNvSpPr/>
          <p:nvPr/>
        </p:nvSpPr>
        <p:spPr>
          <a:xfrm>
            <a:off x="6766560" y="3200400"/>
            <a:ext cx="1920240" cy="1325880"/>
          </a:xfrm>
          <a:prstGeom prst="roundRect">
            <a:avLst>
              <a:gd name="adj" fmla="val 8276"/>
            </a:avLst>
          </a:prstGeom>
          <a:solidFill>
            <a:schemeClr val="bg2"/>
          </a:solidFill>
          <a:ln/>
        </p:spPr>
      </p:sp>
      <p:sp>
        <p:nvSpPr>
          <p:cNvPr id="33" name="Icon circle 268"/>
          <p:cNvSpPr/>
          <p:nvPr/>
        </p:nvSpPr>
        <p:spPr>
          <a:xfrm>
            <a:off x="6949440" y="3364992"/>
            <a:ext cx="457200" cy="457200"/>
          </a:xfrm>
          <a:prstGeom prst="ellipse">
            <a:avLst/>
          </a:prstGeom>
          <a:solidFill>
            <a:schemeClr val="accent1"/>
          </a:solidFill>
          <a:ln/>
        </p:spPr>
      </p:sp>
      <p:pic>
        <p:nvPicPr>
          <p:cNvPr id="34" name="Icon 269" descr="FaMoneyBillWave">    </p:cNvPr>
          <p:cNvPicPr>
            <a:picLocks noChangeAspect="1"/>
          </p:cNvPicPr>
          <p:nvPr/>
        </p:nvPicPr>
        <p:blipFill>
          <a:blip r:embed="rId8"/>
          <a:stretch>
            <a:fillRect/>
          </a:stretch>
        </p:blipFill>
        <p:spPr>
          <a:xfrm>
            <a:off x="7063740" y="3479292"/>
            <a:ext cx="228600" cy="228600"/>
          </a:xfrm>
          <a:prstGeom prst="rect">
            <a:avLst/>
          </a:prstGeom>
        </p:spPr>
      </p:pic>
      <p:sp>
        <p:nvSpPr>
          <p:cNvPr id="35" name="Text 270"/>
          <p:cNvSpPr txBox="1"/>
          <p:nvPr/>
        </p:nvSpPr>
        <p:spPr>
          <a:xfrm>
            <a:off x="6949440" y="3931920"/>
            <a:ext cx="1600200" cy="502920"/>
          </a:xfrm>
          <a:prstGeom prst="rect">
            <a:avLst/>
          </a:prstGeom>
          <a:noFill/>
          <a:ln/>
        </p:spPr>
        <p:txBody>
          <a:bodyPr wrap="square" lIns="0" tIns="0" rIns="0" bIns="0" rtlCol="0" anchor="t"/>
          <a:lstStyle/>
          <a:p>
            <a:pPr indent="0" marL="0">
              <a:buNone/>
            </a:pPr>
            <a:r>
              <a:rPr lang="en-US" sz="1400" b="1" dirty="0">
                <a:solidFill>
                  <a:schemeClr val="tx2"/>
                </a:solidFill>
              </a:rPr>
              <a:t>API pricing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548640"/>
            <a:ext cx="8046720" cy="822960"/>
          </a:xfrm>
          <a:prstGeom prst="rect">
            <a:avLst/>
          </a:prstGeom>
          <a:noFill/>
          <a:ln/>
        </p:spPr>
        <p:txBody>
          <a:bodyPr wrap="square" lIns="0" tIns="0" rIns="0" bIns="0" rtlCol="0" anchor="ctr"/>
          <a:lstStyle/>
          <a:p>
            <a:pPr algn="l" indent="0" marL="0">
              <a:buNone/>
            </a:pPr>
            <a:r>
              <a:rPr lang="en-US" sz="3600" b="1" dirty="0">
                <a:solidFill>
                  <a:schemeClr val="bg1"/>
                </a:solidFill>
              </a:rPr>
              <a:t>Recommendation: build Approach 2</a:t>
            </a:r>
            <a:endParaRPr lang="en-US" sz="3600" dirty="0"/>
          </a:p>
        </p:txBody>
      </p:sp>
      <p:sp>
        <p:nvSpPr>
          <p:cNvPr id="3" name="Text 271"/>
          <p:cNvSpPr txBox="1"/>
          <p:nvPr/>
        </p:nvSpPr>
        <p:spPr>
          <a:xfrm>
            <a:off x="548640" y="164592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NEXT STEPS</a:t>
            </a:r>
            <a:endParaRPr lang="en-US" sz="1200" dirty="0"/>
          </a:p>
        </p:txBody>
      </p:sp>
      <p:sp>
        <p:nvSpPr>
          <p:cNvPr id="4" name="Step number 272"/>
          <p:cNvSpPr/>
          <p:nvPr/>
        </p:nvSpPr>
        <p:spPr>
          <a:xfrm>
            <a:off x="548640" y="2103120"/>
            <a:ext cx="548640" cy="548640"/>
          </a:xfrm>
          <a:prstGeom prst="ellipse">
            <a:avLst/>
          </a:prstGeom>
          <a:solidFill>
            <a:schemeClr val="accent2"/>
          </a:solidFill>
          <a:ln/>
        </p:spPr>
      </p:sp>
      <p:sp>
        <p:nvSpPr>
          <p:cNvPr id="5" name="Text 273"/>
          <p:cNvSpPr txBox="1"/>
          <p:nvPr/>
        </p:nvSpPr>
        <p:spPr>
          <a:xfrm>
            <a:off x="548640" y="21031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 274"/>
          <p:cNvSpPr txBox="1"/>
          <p:nvPr/>
        </p:nvSpPr>
        <p:spPr>
          <a:xfrm>
            <a:off x="1325880" y="2103120"/>
            <a:ext cx="7315200" cy="548640"/>
          </a:xfrm>
          <a:prstGeom prst="rect">
            <a:avLst/>
          </a:prstGeom>
          <a:noFill/>
          <a:ln/>
        </p:spPr>
        <p:txBody>
          <a:bodyPr wrap="square" lIns="0" tIns="0" rIns="0" bIns="0" rtlCol="0" anchor="ctr"/>
          <a:lstStyle/>
          <a:p>
            <a:pPr indent="0" marL="0">
              <a:buNone/>
            </a:pPr>
            <a:r>
              <a:rPr lang="en-US" sz="1800" dirty="0">
                <a:solidFill>
                  <a:schemeClr val="bg1"/>
                </a:solidFill>
              </a:rPr>
              <a:t>Settle the open decisions with stakeholders, including LVD and municipalities</a:t>
            </a:r>
            <a:endParaRPr lang="en-US" sz="1800" dirty="0"/>
          </a:p>
        </p:txBody>
      </p:sp>
      <p:sp>
        <p:nvSpPr>
          <p:cNvPr id="7" name="Step number 275"/>
          <p:cNvSpPr/>
          <p:nvPr/>
        </p:nvSpPr>
        <p:spPr>
          <a:xfrm>
            <a:off x="548640" y="2971800"/>
            <a:ext cx="548640" cy="548640"/>
          </a:xfrm>
          <a:prstGeom prst="ellipse">
            <a:avLst/>
          </a:prstGeom>
          <a:solidFill>
            <a:schemeClr val="accent2"/>
          </a:solidFill>
          <a:ln/>
        </p:spPr>
      </p:sp>
      <p:sp>
        <p:nvSpPr>
          <p:cNvPr id="8" name="Text 276"/>
          <p:cNvSpPr txBox="1"/>
          <p:nvPr/>
        </p:nvSpPr>
        <p:spPr>
          <a:xfrm>
            <a:off x="548640" y="2971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Text 277"/>
          <p:cNvSpPr txBox="1"/>
          <p:nvPr/>
        </p:nvSpPr>
        <p:spPr>
          <a:xfrm>
            <a:off x="1325880" y="2971800"/>
            <a:ext cx="7315200" cy="548640"/>
          </a:xfrm>
          <a:prstGeom prst="rect">
            <a:avLst/>
          </a:prstGeom>
          <a:noFill/>
          <a:ln/>
        </p:spPr>
        <p:txBody>
          <a:bodyPr wrap="square" lIns="0" tIns="0" rIns="0" bIns="0" rtlCol="0" anchor="ctr"/>
          <a:lstStyle/>
          <a:p>
            <a:pPr indent="0" marL="0">
              <a:buNone/>
            </a:pPr>
            <a:r>
              <a:rPr lang="en-US" sz="1800" dirty="0">
                <a:solidFill>
                  <a:schemeClr val="bg1"/>
                </a:solidFill>
              </a:rPr>
              <a:t>Define the data model, event contract and rate-card calculator rules</a:t>
            </a:r>
            <a:endParaRPr lang="en-US" sz="1800" dirty="0"/>
          </a:p>
        </p:txBody>
      </p:sp>
      <p:sp>
        <p:nvSpPr>
          <p:cNvPr id="10" name="Step number 278"/>
          <p:cNvSpPr/>
          <p:nvPr/>
        </p:nvSpPr>
        <p:spPr>
          <a:xfrm>
            <a:off x="548640" y="3840480"/>
            <a:ext cx="548640" cy="548640"/>
          </a:xfrm>
          <a:prstGeom prst="ellipse">
            <a:avLst/>
          </a:prstGeom>
          <a:solidFill>
            <a:schemeClr val="accent2"/>
          </a:solidFill>
          <a:ln/>
        </p:spPr>
      </p:sp>
      <p:sp>
        <p:nvSpPr>
          <p:cNvPr id="11" name="Text 279"/>
          <p:cNvSpPr txBox="1"/>
          <p:nvPr/>
        </p:nvSpPr>
        <p:spPr>
          <a:xfrm>
            <a:off x="548640" y="3840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2" name="Text 280"/>
          <p:cNvSpPr txBox="1"/>
          <p:nvPr/>
        </p:nvSpPr>
        <p:spPr>
          <a:xfrm>
            <a:off x="1325880" y="3840480"/>
            <a:ext cx="7315200" cy="548640"/>
          </a:xfrm>
          <a:prstGeom prst="rect">
            <a:avLst/>
          </a:prstGeom>
          <a:noFill/>
          <a:ln/>
        </p:spPr>
        <p:txBody>
          <a:bodyPr wrap="square" lIns="0" tIns="0" rIns="0" bIns="0" rtlCol="0" anchor="ctr"/>
          <a:lstStyle/>
          <a:p>
            <a:pPr indent="0" marL="0">
              <a:buNone/>
            </a:pPr>
            <a:r>
              <a:rPr lang="en-US" sz="1800" dirty="0">
                <a:solidFill>
                  <a:schemeClr val="bg1"/>
                </a:solidFill>
              </a:rPr>
              <a:t>Stand up the developer portal and sandbox, then onboard a pilot concessionaire</a:t>
            </a:r>
            <a:endParaRPr lang="en-US" sz="1800" dirty="0"/>
          </a:p>
        </p:txBody>
      </p:sp>
    </p:spTree>
  </p:cSld>
  <p:clrMapOvr>
    <a:masterClrMapping/>
  </p:clrMapOvr>
</p:sld>
</file>

<file path=ppt/theme/theme1.xml><?xml version="1.0" encoding="utf-8"?>
<a:theme xmlns:a="http://schemas.openxmlformats.org/drawingml/2006/main" name="CROIP Teal">
  <a:themeElements>
    <a:clrScheme name="CROIP Teal">
      <a:dk1>
        <a:srgbClr val="10222B"/>
      </a:dk1>
      <a:lt1>
        <a:srgbClr val="FFFFFF"/>
      </a:lt1>
      <a:dk2>
        <a:srgbClr val="0B3A47"/>
      </a:dk2>
      <a:lt2>
        <a:srgbClr val="EAF3F4"/>
      </a:lt2>
      <a:accent1>
        <a:srgbClr val="0E7C86"/>
      </a:accent1>
      <a:accent2>
        <a:srgbClr val="F2A900"/>
      </a:accent2>
      <a:accent3>
        <a:srgbClr val="1B4D5C"/>
      </a:accent3>
      <a:accent4>
        <a:srgbClr val="8CC7CE"/>
      </a:accent4>
      <a:accent5>
        <a:srgbClr val="D95D39"/>
      </a:accent5>
      <a:accent6>
        <a:srgbClr val="5B7B84"/>
      </a:accent6>
      <a:hlink>
        <a:srgbClr val="0E7C86"/>
      </a:hlink>
      <a:folHlink>
        <a:srgbClr val="5B7B84"/>
      </a:folHlink>
    </a:clrScheme>
    <a:fontScheme name="CROIP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CROIP should adopt the Three-System Model</dc:title>
  <dc:subject>PptxGenJS Presentation</dc:subject>
  <dc:creator>kevlr</dc:creator>
  <cp:lastModifiedBy>kevlr</cp:lastModifiedBy>
  <cp:revision>1</cp:revision>
  <dcterms:created xsi:type="dcterms:W3CDTF">2026-10-09T10:51:34Z</dcterms:created>
  <dcterms:modified xsi:type="dcterms:W3CDTF">2026-10-09T10:51:34Z</dcterms:modified>
</cp:coreProperties>
</file>